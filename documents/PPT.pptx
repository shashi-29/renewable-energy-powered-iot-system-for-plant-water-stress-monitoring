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8" r:id="rId1"/>
  </p:sldMasterIdLst>
  <p:notesMasterIdLst>
    <p:notesMasterId r:id="rId21"/>
  </p:notesMasterIdLst>
  <p:sldIdLst>
    <p:sldId id="256" r:id="rId2"/>
    <p:sldId id="300" r:id="rId3"/>
    <p:sldId id="258" r:id="rId4"/>
    <p:sldId id="259" r:id="rId5"/>
    <p:sldId id="271" r:id="rId6"/>
    <p:sldId id="279" r:id="rId7"/>
    <p:sldId id="260" r:id="rId8"/>
    <p:sldId id="277" r:id="rId9"/>
    <p:sldId id="301" r:id="rId10"/>
    <p:sldId id="288" r:id="rId11"/>
    <p:sldId id="294" r:id="rId12"/>
    <p:sldId id="297" r:id="rId13"/>
    <p:sldId id="295" r:id="rId14"/>
    <p:sldId id="298" r:id="rId15"/>
    <p:sldId id="296" r:id="rId16"/>
    <p:sldId id="299" r:id="rId17"/>
    <p:sldId id="264" r:id="rId18"/>
    <p:sldId id="289" r:id="rId19"/>
    <p:sldId id="265"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DBD038-F9C4-4DF4-95D5-DE88EB68FA7D}">
          <p14:sldIdLst>
            <p14:sldId id="256"/>
            <p14:sldId id="300"/>
            <p14:sldId id="258"/>
            <p14:sldId id="259"/>
          </p14:sldIdLst>
        </p14:section>
        <p14:section name="Literature Survey" id="{1B5B4083-70CB-45E4-BEF5-C8E5B8EC850F}">
          <p14:sldIdLst>
            <p14:sldId id="271"/>
            <p14:sldId id="279"/>
          </p14:sldIdLst>
        </p14:section>
        <p14:section name="Methodology" id="{1D98D38F-5650-4463-A05A-2A9B2C501E1E}">
          <p14:sldIdLst>
            <p14:sldId id="260"/>
            <p14:sldId id="277"/>
            <p14:sldId id="301"/>
            <p14:sldId id="288"/>
            <p14:sldId id="294"/>
            <p14:sldId id="297"/>
            <p14:sldId id="295"/>
            <p14:sldId id="298"/>
            <p14:sldId id="296"/>
            <p14:sldId id="299"/>
            <p14:sldId id="264"/>
            <p14:sldId id="289"/>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71829F-C0C1-44CC-AE99-A4571D0356EA}" v="8" dt="2026-05-02T03:59:22.7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309" autoAdjust="0"/>
    <p:restoredTop sz="94660"/>
  </p:normalViewPr>
  <p:slideViewPr>
    <p:cSldViewPr snapToGrid="0">
      <p:cViewPr varScale="1">
        <p:scale>
          <a:sx n="70" d="100"/>
          <a:sy n="70" d="100"/>
        </p:scale>
        <p:origin x="25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ndari Shasheendra" userId="513202aa87954cef" providerId="LiveId" clId="{6BC7AF70-9540-40C7-BF5F-3DAB7EF71C9B}"/>
    <pc:docChg chg="undo redo custSel addSld delSld modSld sldOrd modSection">
      <pc:chgData name="Bandari Shasheendra" userId="513202aa87954cef" providerId="LiveId" clId="{6BC7AF70-9540-40C7-BF5F-3DAB7EF71C9B}" dt="2026-05-02T05:59:10.419" v="83"/>
      <pc:docMkLst>
        <pc:docMk/>
      </pc:docMkLst>
      <pc:sldChg chg="modSp mod">
        <pc:chgData name="Bandari Shasheendra" userId="513202aa87954cef" providerId="LiveId" clId="{6BC7AF70-9540-40C7-BF5F-3DAB7EF71C9B}" dt="2026-05-02T03:59:23.963" v="81" actId="27636"/>
        <pc:sldMkLst>
          <pc:docMk/>
          <pc:sldMk cId="339207364" sldId="258"/>
        </pc:sldMkLst>
        <pc:spChg chg="mod">
          <ac:chgData name="Bandari Shasheendra" userId="513202aa87954cef" providerId="LiveId" clId="{6BC7AF70-9540-40C7-BF5F-3DAB7EF71C9B}" dt="2026-05-02T03:59:23.963" v="81" actId="27636"/>
          <ac:spMkLst>
            <pc:docMk/>
            <pc:sldMk cId="339207364" sldId="258"/>
            <ac:spMk id="3" creationId="{00000000-0000-0000-0000-000000000000}"/>
          </ac:spMkLst>
        </pc:spChg>
      </pc:sldChg>
      <pc:sldChg chg="add del ord">
        <pc:chgData name="Bandari Shasheendra" userId="513202aa87954cef" providerId="LiveId" clId="{6BC7AF70-9540-40C7-BF5F-3DAB7EF71C9B}" dt="2026-05-02T03:58:36.125" v="62" actId="47"/>
        <pc:sldMkLst>
          <pc:docMk/>
          <pc:sldMk cId="2015817535" sldId="280"/>
        </pc:sldMkLst>
      </pc:sldChg>
      <pc:sldChg chg="add del">
        <pc:chgData name="Bandari Shasheendra" userId="513202aa87954cef" providerId="LiveId" clId="{6BC7AF70-9540-40C7-BF5F-3DAB7EF71C9B}" dt="2026-05-02T03:58:36.125" v="62" actId="47"/>
        <pc:sldMkLst>
          <pc:docMk/>
          <pc:sldMk cId="1430008547" sldId="281"/>
        </pc:sldMkLst>
      </pc:sldChg>
      <pc:sldChg chg="add del">
        <pc:chgData name="Bandari Shasheendra" userId="513202aa87954cef" providerId="LiveId" clId="{6BC7AF70-9540-40C7-BF5F-3DAB7EF71C9B}" dt="2026-05-02T03:58:36.125" v="62" actId="47"/>
        <pc:sldMkLst>
          <pc:docMk/>
          <pc:sldMk cId="4117545897" sldId="282"/>
        </pc:sldMkLst>
      </pc:sldChg>
      <pc:sldChg chg="add del">
        <pc:chgData name="Bandari Shasheendra" userId="513202aa87954cef" providerId="LiveId" clId="{6BC7AF70-9540-40C7-BF5F-3DAB7EF71C9B}" dt="2026-05-02T03:58:36.125" v="62" actId="47"/>
        <pc:sldMkLst>
          <pc:docMk/>
          <pc:sldMk cId="3883480720" sldId="283"/>
        </pc:sldMkLst>
      </pc:sldChg>
      <pc:sldChg chg="add del">
        <pc:chgData name="Bandari Shasheendra" userId="513202aa87954cef" providerId="LiveId" clId="{6BC7AF70-9540-40C7-BF5F-3DAB7EF71C9B}" dt="2026-05-02T03:58:36.125" v="62" actId="47"/>
        <pc:sldMkLst>
          <pc:docMk/>
          <pc:sldMk cId="1441903235" sldId="284"/>
        </pc:sldMkLst>
      </pc:sldChg>
      <pc:sldChg chg="add del">
        <pc:chgData name="Bandari Shasheendra" userId="513202aa87954cef" providerId="LiveId" clId="{6BC7AF70-9540-40C7-BF5F-3DAB7EF71C9B}" dt="2026-05-02T03:58:36.125" v="62" actId="47"/>
        <pc:sldMkLst>
          <pc:docMk/>
          <pc:sldMk cId="2207555304" sldId="285"/>
        </pc:sldMkLst>
      </pc:sldChg>
      <pc:sldChg chg="add del">
        <pc:chgData name="Bandari Shasheendra" userId="513202aa87954cef" providerId="LiveId" clId="{6BC7AF70-9540-40C7-BF5F-3DAB7EF71C9B}" dt="2026-05-02T03:58:36.125" v="62" actId="47"/>
        <pc:sldMkLst>
          <pc:docMk/>
          <pc:sldMk cId="539541740" sldId="286"/>
        </pc:sldMkLst>
      </pc:sldChg>
      <pc:sldChg chg="add del">
        <pc:chgData name="Bandari Shasheendra" userId="513202aa87954cef" providerId="LiveId" clId="{6BC7AF70-9540-40C7-BF5F-3DAB7EF71C9B}" dt="2026-05-02T03:58:36.125" v="62" actId="47"/>
        <pc:sldMkLst>
          <pc:docMk/>
          <pc:sldMk cId="3135890180" sldId="287"/>
        </pc:sldMkLst>
      </pc:sldChg>
      <pc:sldChg chg="add del">
        <pc:chgData name="Bandari Shasheendra" userId="513202aa87954cef" providerId="LiveId" clId="{6BC7AF70-9540-40C7-BF5F-3DAB7EF71C9B}" dt="2026-05-02T03:58:24.397" v="53" actId="47"/>
        <pc:sldMkLst>
          <pc:docMk/>
          <pc:sldMk cId="2983301900" sldId="289"/>
        </pc:sldMkLst>
      </pc:sldChg>
      <pc:sldChg chg="add del">
        <pc:chgData name="Bandari Shasheendra" userId="513202aa87954cef" providerId="LiveId" clId="{6BC7AF70-9540-40C7-BF5F-3DAB7EF71C9B}" dt="2026-05-02T03:58:42.574" v="63" actId="47"/>
        <pc:sldMkLst>
          <pc:docMk/>
          <pc:sldMk cId="2375685664" sldId="290"/>
        </pc:sldMkLst>
      </pc:sldChg>
      <pc:sldChg chg="add del">
        <pc:chgData name="Bandari Shasheendra" userId="513202aa87954cef" providerId="LiveId" clId="{6BC7AF70-9540-40C7-BF5F-3DAB7EF71C9B}" dt="2026-05-02T03:58:36.125" v="62" actId="47"/>
        <pc:sldMkLst>
          <pc:docMk/>
          <pc:sldMk cId="3631126395" sldId="291"/>
        </pc:sldMkLst>
      </pc:sldChg>
      <pc:sldChg chg="add del">
        <pc:chgData name="Bandari Shasheendra" userId="513202aa87954cef" providerId="LiveId" clId="{6BC7AF70-9540-40C7-BF5F-3DAB7EF71C9B}" dt="2026-05-02T03:58:36.125" v="62" actId="47"/>
        <pc:sldMkLst>
          <pc:docMk/>
          <pc:sldMk cId="1331796872" sldId="292"/>
        </pc:sldMkLst>
      </pc:sldChg>
      <pc:sldChg chg="add del">
        <pc:chgData name="Bandari Shasheendra" userId="513202aa87954cef" providerId="LiveId" clId="{6BC7AF70-9540-40C7-BF5F-3DAB7EF71C9B}" dt="2026-05-02T03:58:36.125" v="62" actId="47"/>
        <pc:sldMkLst>
          <pc:docMk/>
          <pc:sldMk cId="1962740742" sldId="293"/>
        </pc:sldMkLst>
      </pc:sldChg>
      <pc:sldChg chg="ord">
        <pc:chgData name="Bandari Shasheendra" userId="513202aa87954cef" providerId="LiveId" clId="{6BC7AF70-9540-40C7-BF5F-3DAB7EF71C9B}" dt="2026-05-02T05:59:10.419" v="83"/>
        <pc:sldMkLst>
          <pc:docMk/>
          <pc:sldMk cId="2512727753" sldId="300"/>
        </pc:sldMkLst>
      </pc:sldChg>
      <pc:sldChg chg="ord">
        <pc:chgData name="Bandari Shasheendra" userId="513202aa87954cef" providerId="LiveId" clId="{6BC7AF70-9540-40C7-BF5F-3DAB7EF71C9B}" dt="2026-05-02T03:58:27.548" v="60" actId="20578"/>
        <pc:sldMkLst>
          <pc:docMk/>
          <pc:sldMk cId="2803656228"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E5BC9A-69F8-487A-B72E-007907D464FC}" type="datetimeFigureOut">
              <a:rPr lang="en-IN" smtClean="0"/>
              <a:t>02-05-2026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A6087E-8505-452F-AAD2-02505718D88A}" type="slidenum">
              <a:rPr lang="en-IN" smtClean="0"/>
              <a:t>‹#›</a:t>
            </a:fld>
            <a:endParaRPr lang="en-IN"/>
          </a:p>
        </p:txBody>
      </p:sp>
    </p:spTree>
    <p:extLst>
      <p:ext uri="{BB962C8B-B14F-4D97-AF65-F5344CB8AC3E}">
        <p14:creationId xmlns:p14="http://schemas.microsoft.com/office/powerpoint/2010/main" val="360427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79999" y="4410000"/>
            <a:ext cx="11880000" cy="2070000"/>
          </a:xfrm>
        </p:spPr>
        <p:txBody>
          <a:bodyPr numCol="2" anchor="ctr"/>
          <a:lstStyle>
            <a:lvl1pPr marL="0" indent="0" algn="ctr">
              <a:buNone/>
              <a:defRPr sz="2400" b="1" cap="small" baseline="0">
                <a:effectLst/>
                <a:latin typeface="Maiandra GD" panose="020E0502030308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dirty="0"/>
          </a:p>
        </p:txBody>
      </p:sp>
      <p:sp>
        <p:nvSpPr>
          <p:cNvPr id="2" name="Title 1"/>
          <p:cNvSpPr>
            <a:spLocks noGrp="1"/>
          </p:cNvSpPr>
          <p:nvPr>
            <p:ph type="ctrTitle" hasCustomPrompt="1"/>
          </p:nvPr>
        </p:nvSpPr>
        <p:spPr>
          <a:xfrm>
            <a:off x="1619999" y="72000"/>
            <a:ext cx="10440000" cy="4230000"/>
          </a:xfrm>
          <a:noFill/>
        </p:spPr>
        <p:txBody>
          <a:bodyPr anchor="ctr"/>
          <a:lstStyle>
            <a:lvl1pPr algn="ctr">
              <a:defRPr sz="6000" b="1" cap="small" baseline="0">
                <a:effectLst>
                  <a:outerShdw blurRad="38100" dist="38100" dir="2700000" algn="tl">
                    <a:srgbClr val="000000">
                      <a:alpha val="43137"/>
                    </a:srgbClr>
                  </a:outerShdw>
                </a:effectLst>
                <a:latin typeface="Centaur" panose="02030504050205020304" pitchFamily="18" charset="0"/>
              </a:defRPr>
            </a:lvl1pPr>
          </a:lstStyle>
          <a:p>
            <a:r>
              <a:rPr lang="en-US" dirty="0"/>
              <a:t>Click to Edit Master Title Style</a:t>
            </a:r>
            <a:endParaRPr lang="en-IN" dirty="0"/>
          </a:p>
        </p:txBody>
      </p:sp>
      <p:sp>
        <p:nvSpPr>
          <p:cNvPr id="6" name="Footer Placeholder 4"/>
          <p:cNvSpPr>
            <a:spLocks noGrp="1"/>
          </p:cNvSpPr>
          <p:nvPr>
            <p:ph type="ftr" sz="quarter" idx="3"/>
          </p:nvPr>
        </p:nvSpPr>
        <p:spPr>
          <a:xfrm>
            <a:off x="-1" y="6522855"/>
            <a:ext cx="12191999" cy="365125"/>
          </a:xfrm>
          <a:prstGeom prst="rect">
            <a:avLst/>
          </a:prstGeom>
          <a:solidFill>
            <a:srgbClr val="002060"/>
          </a:solidFill>
        </p:spPr>
        <p:txBody>
          <a:bodyPr vert="horz" lIns="91440" tIns="45720" rIns="91440" bIns="45720" rtlCol="0" anchor="ctr">
            <a:scene3d>
              <a:camera prst="orthographicFront"/>
              <a:lightRig rig="threePt" dir="t"/>
            </a:scene3d>
            <a:sp3d extrusionH="57150">
              <a:bevelT w="38100" h="38100" prst="convex"/>
            </a:sp3d>
          </a:bodyPr>
          <a:lstStyle>
            <a:lvl1pPr algn="ctr">
              <a:defRPr sz="2400" b="1">
                <a:ln>
                  <a:solidFill>
                    <a:schemeClr val="accent4"/>
                  </a:solidFill>
                </a:ln>
                <a:solidFill>
                  <a:schemeClr val="accent4"/>
                </a:solidFill>
                <a:latin typeface="Centaur" panose="02030504050205020304" pitchFamily="18" charset="0"/>
                <a:ea typeface="Tahoma" panose="020B0604030504040204" pitchFamily="34" charset="0"/>
                <a:cs typeface="Tahoma" panose="020B0604030504040204" pitchFamily="34" charset="0"/>
              </a:defRPr>
            </a:lvl1p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2658953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620000" y="70247"/>
            <a:ext cx="10440000" cy="1350000"/>
          </a:xfrm>
        </p:spPr>
        <p:txBody>
          <a:bodyPr>
            <a:normAutofit/>
          </a:bodyPr>
          <a:lstStyle>
            <a:lvl1pPr>
              <a:defRPr sz="4400"/>
            </a:lvl1pPr>
          </a:lstStyle>
          <a:p>
            <a:r>
              <a:rPr lang="en-US"/>
              <a:t>Click to edit Master title style</a:t>
            </a:r>
            <a:endParaRPr lang="en-IN"/>
          </a:p>
        </p:txBody>
      </p:sp>
      <p:sp>
        <p:nvSpPr>
          <p:cNvPr id="3" name="Content Placeholder 2"/>
          <p:cNvSpPr>
            <a:spLocks noGrp="1"/>
          </p:cNvSpPr>
          <p:nvPr>
            <p:ph idx="1"/>
          </p:nvPr>
        </p:nvSpPr>
        <p:spPr>
          <a:xfrm>
            <a:off x="158400" y="1455561"/>
            <a:ext cx="11880000" cy="50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Slide Number Placeholder 5"/>
          <p:cNvSpPr>
            <a:spLocks noGrp="1"/>
          </p:cNvSpPr>
          <p:nvPr>
            <p:ph type="sldNum" sz="quarter" idx="12"/>
          </p:nvPr>
        </p:nvSpPr>
        <p:spPr>
          <a:xfrm>
            <a:off x="11340000" y="70247"/>
            <a:ext cx="630000" cy="1350000"/>
          </a:xfrm>
        </p:spPr>
        <p:txBody>
          <a:bodyPr/>
          <a:lstStyle/>
          <a:p>
            <a:fld id="{EEC824EF-4F39-42CE-B61A-92299691A099}" type="slidenum">
              <a:rPr lang="en-IN" smtClean="0"/>
              <a:t>‹#›</a:t>
            </a:fld>
            <a:endParaRPr lang="en-IN"/>
          </a:p>
        </p:txBody>
      </p:sp>
      <p:sp>
        <p:nvSpPr>
          <p:cNvPr id="7" name="Footer Placeholder 4"/>
          <p:cNvSpPr>
            <a:spLocks noGrp="1"/>
          </p:cNvSpPr>
          <p:nvPr>
            <p:ph type="ftr" sz="quarter" idx="3"/>
          </p:nvPr>
        </p:nvSpPr>
        <p:spPr>
          <a:xfrm>
            <a:off x="-1" y="6522855"/>
            <a:ext cx="12191999" cy="365125"/>
          </a:xfrm>
          <a:prstGeom prst="rect">
            <a:avLst/>
          </a:prstGeom>
          <a:solidFill>
            <a:srgbClr val="002060"/>
          </a:solidFill>
        </p:spPr>
        <p:txBody>
          <a:bodyPr vert="horz" lIns="91440" tIns="45720" rIns="91440" bIns="45720" rtlCol="0" anchor="b">
            <a:scene3d>
              <a:camera prst="orthographicFront"/>
              <a:lightRig rig="threePt" dir="t"/>
            </a:scene3d>
            <a:sp3d extrusionH="57150">
              <a:bevelT w="38100" h="38100" prst="convex"/>
            </a:sp3d>
          </a:bodyPr>
          <a:lstStyle>
            <a:lvl1pPr algn="ctr">
              <a:defRPr sz="2400" b="1">
                <a:ln>
                  <a:solidFill>
                    <a:schemeClr val="accent4"/>
                  </a:solidFill>
                </a:ln>
                <a:solidFill>
                  <a:schemeClr val="accent4"/>
                </a:solidFill>
                <a:latin typeface="Centaur" panose="02030504050205020304" pitchFamily="18" charset="0"/>
                <a:ea typeface="Tahoma" panose="020B0604030504040204" pitchFamily="34" charset="0"/>
                <a:cs typeface="Tahoma" panose="020B0604030504040204" pitchFamily="34" charset="0"/>
              </a:defRPr>
            </a:lvl1p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1833789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528998"/>
            <a:ext cx="10515600" cy="3263574"/>
          </a:xfrm>
        </p:spPr>
        <p:txBody>
          <a:bodyPr anchor="ctr"/>
          <a:lstStyle>
            <a:lvl1pPr>
              <a:defRPr sz="6000"/>
            </a:lvl1pPr>
          </a:lstStyle>
          <a:p>
            <a:r>
              <a:rPr lang="en-US"/>
              <a:t>Click to edit Master title style</a:t>
            </a:r>
            <a:endParaRPr lang="en-IN" dirty="0"/>
          </a:p>
        </p:txBody>
      </p:sp>
      <p:sp>
        <p:nvSpPr>
          <p:cNvPr id="3" name="Text Placeholder 2"/>
          <p:cNvSpPr>
            <a:spLocks noGrp="1"/>
          </p:cNvSpPr>
          <p:nvPr>
            <p:ph type="body" idx="1"/>
          </p:nvPr>
        </p:nvSpPr>
        <p:spPr>
          <a:xfrm>
            <a:off x="831850" y="4912492"/>
            <a:ext cx="10515600" cy="1500187"/>
          </a:xfrm>
        </p:spPr>
        <p:txBody>
          <a:bodyPr anchor="ctr"/>
          <a:lstStyle>
            <a:lvl1pPr marL="0" indent="0" algn="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5" name="Footer Placeholder 4"/>
          <p:cNvSpPr>
            <a:spLocks noGrp="1"/>
          </p:cNvSpPr>
          <p:nvPr>
            <p:ph type="ftr" sz="quarter" idx="11"/>
          </p:nvPr>
        </p:nvSpPr>
        <p:spPr/>
        <p:txBody>
          <a:body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36205402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58400" y="1452875"/>
            <a:ext cx="5850000" cy="50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10000" y="1452875"/>
            <a:ext cx="5850000" cy="50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11"/>
          </p:nvPr>
        </p:nvSpPr>
        <p:spPr/>
        <p:txBody>
          <a:bodyPr/>
          <a:lstStyle/>
          <a:p>
            <a:r>
              <a:rPr lang="en-IN"/>
              <a:t>Department of Electronics &amp; Instrumentation Engineering, VNRVJIET</a:t>
            </a:r>
            <a:endParaRPr lang="en-IN" dirty="0"/>
          </a:p>
        </p:txBody>
      </p:sp>
      <p:sp>
        <p:nvSpPr>
          <p:cNvPr id="7" name="Slide Number Placeholder 6"/>
          <p:cNvSpPr>
            <a:spLocks noGrp="1"/>
          </p:cNvSpPr>
          <p:nvPr>
            <p:ph type="sldNum" sz="quarter" idx="12"/>
          </p:nvPr>
        </p:nvSpPr>
        <p:spPr/>
        <p:txBody>
          <a:bodyPr/>
          <a:lstStyle/>
          <a:p>
            <a:fld id="{EEC824EF-4F39-42CE-B61A-92299691A099}" type="slidenum">
              <a:rPr lang="en-IN" smtClean="0"/>
              <a:t>‹#›</a:t>
            </a:fld>
            <a:endParaRPr lang="en-IN"/>
          </a:p>
        </p:txBody>
      </p:sp>
    </p:spTree>
    <p:extLst>
      <p:ext uri="{BB962C8B-B14F-4D97-AF65-F5344CB8AC3E}">
        <p14:creationId xmlns:p14="http://schemas.microsoft.com/office/powerpoint/2010/main" val="2513233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our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58400" y="1452875"/>
            <a:ext cx="585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210000" y="1452875"/>
            <a:ext cx="585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11"/>
          </p:nvPr>
        </p:nvSpPr>
        <p:spPr/>
        <p:txBody>
          <a:bodyPr/>
          <a:lstStyle/>
          <a:p>
            <a:r>
              <a:rPr lang="en-IN"/>
              <a:t>Department of Electronics &amp; Instrumentation Engineering, VNRVJIET</a:t>
            </a:r>
            <a:endParaRPr lang="en-IN" dirty="0"/>
          </a:p>
        </p:txBody>
      </p:sp>
      <p:sp>
        <p:nvSpPr>
          <p:cNvPr id="7" name="Slide Number Placeholder 6"/>
          <p:cNvSpPr>
            <a:spLocks noGrp="1"/>
          </p:cNvSpPr>
          <p:nvPr>
            <p:ph type="sldNum" sz="quarter" idx="12"/>
          </p:nvPr>
        </p:nvSpPr>
        <p:spPr/>
        <p:txBody>
          <a:bodyPr/>
          <a:lstStyle/>
          <a:p>
            <a:fld id="{EEC824EF-4F39-42CE-B61A-92299691A099}" type="slidenum">
              <a:rPr lang="en-IN" smtClean="0"/>
              <a:pPr/>
              <a:t>‹#›</a:t>
            </a:fld>
            <a:endParaRPr lang="en-IN" dirty="0"/>
          </a:p>
        </p:txBody>
      </p:sp>
      <p:sp>
        <p:nvSpPr>
          <p:cNvPr id="8" name="Content Placeholder 2"/>
          <p:cNvSpPr>
            <a:spLocks noGrp="1"/>
          </p:cNvSpPr>
          <p:nvPr>
            <p:ph sz="half" idx="13"/>
          </p:nvPr>
        </p:nvSpPr>
        <p:spPr>
          <a:xfrm>
            <a:off x="158400" y="4042359"/>
            <a:ext cx="585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3"/>
          <p:cNvSpPr>
            <a:spLocks noGrp="1"/>
          </p:cNvSpPr>
          <p:nvPr>
            <p:ph sz="half" idx="14"/>
          </p:nvPr>
        </p:nvSpPr>
        <p:spPr>
          <a:xfrm>
            <a:off x="6210000" y="4042359"/>
            <a:ext cx="585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03216200"/>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_Horiz">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80000" y="1461809"/>
            <a:ext cx="1188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11"/>
          </p:nvPr>
        </p:nvSpPr>
        <p:spPr/>
        <p:txBody>
          <a:bodyPr/>
          <a:lstStyle/>
          <a:p>
            <a:r>
              <a:rPr lang="en-IN"/>
              <a:t>Department of Electronics &amp; Instrumentation Engineering, VNRVJIET</a:t>
            </a:r>
            <a:endParaRPr lang="en-IN" dirty="0"/>
          </a:p>
        </p:txBody>
      </p:sp>
      <p:sp>
        <p:nvSpPr>
          <p:cNvPr id="7" name="Slide Number Placeholder 6"/>
          <p:cNvSpPr>
            <a:spLocks noGrp="1"/>
          </p:cNvSpPr>
          <p:nvPr>
            <p:ph type="sldNum" sz="quarter" idx="12"/>
          </p:nvPr>
        </p:nvSpPr>
        <p:spPr/>
        <p:txBody>
          <a:bodyPr/>
          <a:lstStyle/>
          <a:p>
            <a:fld id="{EEC824EF-4F39-42CE-B61A-92299691A099}" type="slidenum">
              <a:rPr lang="en-IN" smtClean="0"/>
              <a:pPr/>
              <a:t>‹#›</a:t>
            </a:fld>
            <a:endParaRPr lang="en-IN" dirty="0"/>
          </a:p>
        </p:txBody>
      </p:sp>
      <p:sp>
        <p:nvSpPr>
          <p:cNvPr id="8" name="Content Placeholder 2"/>
          <p:cNvSpPr>
            <a:spLocks noGrp="1"/>
          </p:cNvSpPr>
          <p:nvPr>
            <p:ph sz="half" idx="13"/>
          </p:nvPr>
        </p:nvSpPr>
        <p:spPr>
          <a:xfrm>
            <a:off x="180000" y="4051293"/>
            <a:ext cx="11880000" cy="243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1715206753"/>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_Content_Dissimila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158400" y="1452875"/>
            <a:ext cx="3870000" cy="50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140000" y="1454400"/>
            <a:ext cx="7920000" cy="504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11"/>
          </p:nvPr>
        </p:nvSpPr>
        <p:spPr/>
        <p:txBody>
          <a:bodyPr/>
          <a:lstStyle/>
          <a:p>
            <a:r>
              <a:rPr lang="en-IN"/>
              <a:t>Department of Electronics &amp; Instrumentation Engineering, VNRVJIET</a:t>
            </a:r>
            <a:endParaRPr lang="en-IN" dirty="0"/>
          </a:p>
        </p:txBody>
      </p:sp>
      <p:sp>
        <p:nvSpPr>
          <p:cNvPr id="7" name="Slide Number Placeholder 6"/>
          <p:cNvSpPr>
            <a:spLocks noGrp="1"/>
          </p:cNvSpPr>
          <p:nvPr>
            <p:ph type="sldNum" sz="quarter" idx="12"/>
          </p:nvPr>
        </p:nvSpPr>
        <p:spPr/>
        <p:txBody>
          <a:bodyPr/>
          <a:lstStyle/>
          <a:p>
            <a:fld id="{EEC824EF-4F39-42CE-B61A-92299691A099}" type="slidenum">
              <a:rPr lang="en-IN" smtClean="0"/>
              <a:pPr/>
              <a:t>‹#›</a:t>
            </a:fld>
            <a:endParaRPr lang="en-IN" dirty="0"/>
          </a:p>
        </p:txBody>
      </p:sp>
    </p:spTree>
    <p:extLst>
      <p:ext uri="{BB962C8B-B14F-4D97-AF65-F5344CB8AC3E}">
        <p14:creationId xmlns:p14="http://schemas.microsoft.com/office/powerpoint/2010/main" val="2047935369"/>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20000" y="71999"/>
            <a:ext cx="10440000" cy="1350000"/>
          </a:xfrm>
        </p:spPr>
        <p:txBody>
          <a:bodyPr/>
          <a:lstStyle/>
          <a:p>
            <a:r>
              <a:rPr lang="en-US"/>
              <a:t>Click to edit Master title style</a:t>
            </a:r>
            <a:endParaRPr lang="en-IN"/>
          </a:p>
        </p:txBody>
      </p:sp>
      <p:sp>
        <p:nvSpPr>
          <p:cNvPr id="3" name="Text Placeholder 2"/>
          <p:cNvSpPr>
            <a:spLocks noGrp="1"/>
          </p:cNvSpPr>
          <p:nvPr>
            <p:ph type="body" idx="1"/>
          </p:nvPr>
        </p:nvSpPr>
        <p:spPr>
          <a:xfrm>
            <a:off x="158400" y="1454400"/>
            <a:ext cx="5850000" cy="630000"/>
          </a:xfrm>
          <a:solidFill>
            <a:srgbClr val="002060"/>
          </a:solidFill>
          <a:ln w="38100">
            <a:solidFill>
              <a:srgbClr val="002060"/>
            </a:solidFill>
          </a:ln>
        </p:spPr>
        <p:txBody>
          <a:bodyPr anchor="ctr"/>
          <a:lstStyle>
            <a:lvl1pPr marL="0" indent="0" algn="ctr">
              <a:buNone/>
              <a:defRPr sz="2400" b="1">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58400" y="2142000"/>
            <a:ext cx="5850000" cy="432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210000" y="1454400"/>
            <a:ext cx="5850000" cy="630000"/>
          </a:xfrm>
          <a:solidFill>
            <a:srgbClr val="002060"/>
          </a:solidFill>
          <a:ln w="38100">
            <a:solidFill>
              <a:srgbClr val="002060"/>
            </a:solidFill>
          </a:ln>
        </p:spPr>
        <p:txBody>
          <a:bodyPr anchor="ctr"/>
          <a:lstStyle>
            <a:lvl1pPr marL="0" indent="0" algn="ctr">
              <a:buNone/>
              <a:defRPr sz="2400" b="1">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0000" y="2141237"/>
            <a:ext cx="5850000" cy="43200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Footer Placeholder 7"/>
          <p:cNvSpPr>
            <a:spLocks noGrp="1"/>
          </p:cNvSpPr>
          <p:nvPr>
            <p:ph type="ftr" sz="quarter" idx="11"/>
          </p:nvPr>
        </p:nvSpPr>
        <p:spPr/>
        <p:txBody>
          <a:bodyPr/>
          <a:lstStyle/>
          <a:p>
            <a:r>
              <a:rPr lang="en-IN"/>
              <a:t>Department of Electronics &amp; Instrumentation Engineering, VNRVJIET</a:t>
            </a:r>
            <a:endParaRPr lang="en-IN" dirty="0"/>
          </a:p>
        </p:txBody>
      </p:sp>
      <p:sp>
        <p:nvSpPr>
          <p:cNvPr id="9" name="Slide Number Placeholder 8"/>
          <p:cNvSpPr>
            <a:spLocks noGrp="1"/>
          </p:cNvSpPr>
          <p:nvPr>
            <p:ph type="sldNum" sz="quarter" idx="12"/>
          </p:nvPr>
        </p:nvSpPr>
        <p:spPr/>
        <p:txBody>
          <a:bodyPr/>
          <a:lstStyle/>
          <a:p>
            <a:fld id="{EEC824EF-4F39-42CE-B61A-92299691A099}" type="slidenum">
              <a:rPr lang="en-IN" smtClean="0"/>
              <a:t>‹#›</a:t>
            </a:fld>
            <a:endParaRPr lang="en-IN"/>
          </a:p>
        </p:txBody>
      </p:sp>
    </p:spTree>
    <p:extLst>
      <p:ext uri="{BB962C8B-B14F-4D97-AF65-F5344CB8AC3E}">
        <p14:creationId xmlns:p14="http://schemas.microsoft.com/office/powerpoint/2010/main" val="2506068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4" name="Footer Placeholder 3"/>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p:cNvSpPr>
            <a:spLocks noGrp="1"/>
          </p:cNvSpPr>
          <p:nvPr>
            <p:ph type="sldNum" sz="quarter" idx="12"/>
          </p:nvPr>
        </p:nvSpPr>
        <p:spPr/>
        <p:txBody>
          <a:bodyPr/>
          <a:lstStyle/>
          <a:p>
            <a:fld id="{EEC824EF-4F39-42CE-B61A-92299691A099}" type="slidenum">
              <a:rPr lang="en-IN" smtClean="0"/>
              <a:t>‹#›</a:t>
            </a:fld>
            <a:endParaRPr lang="en-IN"/>
          </a:p>
        </p:txBody>
      </p:sp>
    </p:spTree>
    <p:extLst>
      <p:ext uri="{BB962C8B-B14F-4D97-AF65-F5344CB8AC3E}">
        <p14:creationId xmlns:p14="http://schemas.microsoft.com/office/powerpoint/2010/main" val="534032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Department of Electronics &amp; Instrumentation Engineering, VNRVJIET</a:t>
            </a:r>
            <a:endParaRPr lang="en-IN" dirty="0"/>
          </a:p>
        </p:txBody>
      </p:sp>
      <p:sp>
        <p:nvSpPr>
          <p:cNvPr id="4" name="Slide Number Placeholder 3"/>
          <p:cNvSpPr>
            <a:spLocks noGrp="1"/>
          </p:cNvSpPr>
          <p:nvPr>
            <p:ph type="sldNum" sz="quarter" idx="12"/>
          </p:nvPr>
        </p:nvSpPr>
        <p:spPr/>
        <p:txBody>
          <a:bodyPr/>
          <a:lstStyle/>
          <a:p>
            <a:fld id="{EEC824EF-4F39-42CE-B61A-92299691A099}" type="slidenum">
              <a:rPr lang="en-IN" smtClean="0"/>
              <a:t>‹#›</a:t>
            </a:fld>
            <a:endParaRPr lang="en-IN"/>
          </a:p>
        </p:txBody>
      </p:sp>
    </p:spTree>
    <p:extLst>
      <p:ext uri="{BB962C8B-B14F-4D97-AF65-F5344CB8AC3E}">
        <p14:creationId xmlns:p14="http://schemas.microsoft.com/office/powerpoint/2010/main" val="30185691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Thank you">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IN"/>
              <a:t>Department of Electronics &amp; Instrumentation Engineering, VNRVJIET</a:t>
            </a:r>
            <a:endParaRPr lang="en-IN" dirty="0"/>
          </a:p>
        </p:txBody>
      </p:sp>
      <p:sp>
        <p:nvSpPr>
          <p:cNvPr id="4" name="Slide Number Placeholder 3"/>
          <p:cNvSpPr>
            <a:spLocks noGrp="1"/>
          </p:cNvSpPr>
          <p:nvPr>
            <p:ph type="sldNum" sz="quarter" idx="12"/>
          </p:nvPr>
        </p:nvSpPr>
        <p:spPr/>
        <p:txBody>
          <a:bodyPr/>
          <a:lstStyle/>
          <a:p>
            <a:fld id="{EEC824EF-4F39-42CE-B61A-92299691A099}" type="slidenum">
              <a:rPr lang="en-IN" smtClean="0"/>
              <a:t>‹#›</a:t>
            </a:fld>
            <a:endParaRPr lang="en-IN"/>
          </a:p>
        </p:txBody>
      </p:sp>
      <p:sp>
        <p:nvSpPr>
          <p:cNvPr id="2" name="TextBox 1"/>
          <p:cNvSpPr txBox="1"/>
          <p:nvPr/>
        </p:nvSpPr>
        <p:spPr>
          <a:xfrm>
            <a:off x="4115998" y="2891551"/>
            <a:ext cx="3960000" cy="1080000"/>
          </a:xfrm>
          <a:prstGeom prst="rect">
            <a:avLst/>
          </a:prstGeom>
          <a:noFill/>
        </p:spPr>
        <p:txBody>
          <a:bodyPr wrap="square" rtlCol="0">
            <a:spAutoFit/>
          </a:bodyPr>
          <a:lstStyle/>
          <a:p>
            <a:pPr algn="ctr"/>
            <a:r>
              <a:rPr lang="en-IN" sz="6000" b="1" dirty="0">
                <a:effectLst>
                  <a:outerShdw blurRad="38100" dist="38100" dir="2700000" algn="tl">
                    <a:srgbClr val="000000">
                      <a:alpha val="43137"/>
                    </a:srgbClr>
                  </a:outerShdw>
                </a:effectLst>
                <a:latin typeface="Maiandra GD" panose="020E0502030308020204" pitchFamily="34" charset="0"/>
              </a:rPr>
              <a:t>Thank You!</a:t>
            </a:r>
          </a:p>
        </p:txBody>
      </p:sp>
      <p:sp>
        <p:nvSpPr>
          <p:cNvPr id="5" name="TextBox 4"/>
          <p:cNvSpPr txBox="1"/>
          <p:nvPr userDrawn="1"/>
        </p:nvSpPr>
        <p:spPr>
          <a:xfrm>
            <a:off x="4115998" y="2891551"/>
            <a:ext cx="3960000" cy="1080000"/>
          </a:xfrm>
          <a:prstGeom prst="rect">
            <a:avLst/>
          </a:prstGeom>
          <a:noFill/>
        </p:spPr>
        <p:txBody>
          <a:bodyPr wrap="square" rtlCol="0">
            <a:spAutoFit/>
          </a:bodyPr>
          <a:lstStyle/>
          <a:p>
            <a:pPr algn="ctr"/>
            <a:r>
              <a:rPr lang="en-IN" sz="6000" b="1" dirty="0">
                <a:effectLst>
                  <a:outerShdw blurRad="38100" dist="38100" dir="2700000" algn="tl">
                    <a:srgbClr val="000000">
                      <a:alpha val="43137"/>
                    </a:srgbClr>
                  </a:outerShdw>
                </a:effectLst>
                <a:latin typeface="Maiandra GD" panose="020E0502030308020204" pitchFamily="34" charset="0"/>
              </a:rPr>
              <a:t>Thank You!</a:t>
            </a:r>
          </a:p>
        </p:txBody>
      </p:sp>
    </p:spTree>
    <p:extLst>
      <p:ext uri="{BB962C8B-B14F-4D97-AF65-F5344CB8AC3E}">
        <p14:creationId xmlns:p14="http://schemas.microsoft.com/office/powerpoint/2010/main" val="26959212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gi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20000" y="70247"/>
            <a:ext cx="10440000" cy="1350000"/>
          </a:xfrm>
          <a:prstGeom prst="rect">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157258" y="1455562"/>
            <a:ext cx="11879843" cy="5040000"/>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Footer Placeholder 4"/>
          <p:cNvSpPr>
            <a:spLocks noGrp="1"/>
          </p:cNvSpPr>
          <p:nvPr>
            <p:ph type="ftr" sz="quarter" idx="3"/>
          </p:nvPr>
        </p:nvSpPr>
        <p:spPr>
          <a:xfrm>
            <a:off x="-1" y="6522855"/>
            <a:ext cx="12191999" cy="365125"/>
          </a:xfrm>
          <a:prstGeom prst="rect">
            <a:avLst/>
          </a:prstGeom>
          <a:solidFill>
            <a:srgbClr val="002060"/>
          </a:solidFill>
        </p:spPr>
        <p:txBody>
          <a:bodyPr vert="horz" lIns="91440" tIns="45720" rIns="91440" bIns="45720" rtlCol="0" anchor="b">
            <a:scene3d>
              <a:camera prst="orthographicFront"/>
              <a:lightRig rig="threePt" dir="t"/>
            </a:scene3d>
            <a:sp3d extrusionH="57150">
              <a:bevelT w="38100" h="38100" prst="convex"/>
            </a:sp3d>
          </a:bodyPr>
          <a:lstStyle>
            <a:lvl1pPr algn="ctr">
              <a:defRPr sz="2400" b="1">
                <a:ln>
                  <a:solidFill>
                    <a:schemeClr val="accent4"/>
                  </a:solidFill>
                </a:ln>
                <a:solidFill>
                  <a:schemeClr val="accent4"/>
                </a:solidFill>
                <a:latin typeface="Centaur" panose="02030504050205020304" pitchFamily="18" charset="0"/>
                <a:ea typeface="Tahoma" panose="020B0604030504040204" pitchFamily="34" charset="0"/>
                <a:cs typeface="Tahoma" panose="020B0604030504040204" pitchFamily="34" charset="0"/>
              </a:defRPr>
            </a:lvl1pPr>
          </a:lstStyle>
          <a:p>
            <a:r>
              <a:rPr lang="en-IN"/>
              <a:t>Department of Electronics &amp; Instrumentation Engineering, VNRVJIET</a:t>
            </a:r>
            <a:endParaRPr lang="en-IN" dirty="0"/>
          </a:p>
        </p:txBody>
      </p:sp>
      <p:sp>
        <p:nvSpPr>
          <p:cNvPr id="6" name="Slide Number Placeholder 5"/>
          <p:cNvSpPr>
            <a:spLocks noGrp="1"/>
          </p:cNvSpPr>
          <p:nvPr>
            <p:ph type="sldNum" sz="quarter" idx="4"/>
          </p:nvPr>
        </p:nvSpPr>
        <p:spPr>
          <a:xfrm>
            <a:off x="11340000" y="70247"/>
            <a:ext cx="630000" cy="1350000"/>
          </a:xfrm>
          <a:prstGeom prst="roundRect">
            <a:avLst>
              <a:gd name="adj" fmla="val 11342"/>
            </a:avLst>
          </a:prstGeom>
          <a:solidFill>
            <a:srgbClr val="002060"/>
          </a:solidFill>
          <a:ln w="38100">
            <a:noFill/>
          </a:ln>
        </p:spPr>
        <p:txBody>
          <a:bodyPr vert="horz" lIns="46800" tIns="45720" rIns="46800" bIns="45720" rtlCol="0" anchor="ctr">
            <a:scene3d>
              <a:camera prst="orthographicFront"/>
              <a:lightRig rig="threePt" dir="t"/>
            </a:scene3d>
            <a:sp3d extrusionH="57150">
              <a:bevelT w="38100" h="38100" prst="convex"/>
            </a:sp3d>
          </a:bodyPr>
          <a:lstStyle>
            <a:lvl1pPr algn="ctr">
              <a:defRPr sz="2800" b="1">
                <a:ln>
                  <a:solidFill>
                    <a:schemeClr val="accent4"/>
                  </a:solidFill>
                </a:ln>
                <a:solidFill>
                  <a:schemeClr val="accent4"/>
                </a:solidFill>
                <a:latin typeface="Perpetua" panose="02020502060401020303" pitchFamily="18" charset="0"/>
              </a:defRPr>
            </a:lvl1pPr>
          </a:lstStyle>
          <a:p>
            <a:fld id="{EEC824EF-4F39-42CE-B61A-92299691A099}" type="slidenum">
              <a:rPr lang="en-IN" smtClean="0"/>
              <a:pPr/>
              <a:t>‹#›</a:t>
            </a:fld>
            <a:endParaRPr lang="en-IN" dirty="0"/>
          </a:p>
        </p:txBody>
      </p:sp>
      <p:pic>
        <p:nvPicPr>
          <p:cNvPr id="7" name="Picture 6"/>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57258" y="70247"/>
            <a:ext cx="1353018" cy="1325354"/>
          </a:xfrm>
          <a:prstGeom prst="rect">
            <a:avLst/>
          </a:prstGeom>
        </p:spPr>
      </p:pic>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57258" y="70247"/>
            <a:ext cx="1353018" cy="1325354"/>
          </a:xfrm>
          <a:prstGeom prst="rect">
            <a:avLst/>
          </a:prstGeom>
        </p:spPr>
      </p:pic>
    </p:spTree>
    <p:extLst>
      <p:ext uri="{BB962C8B-B14F-4D97-AF65-F5344CB8AC3E}">
        <p14:creationId xmlns:p14="http://schemas.microsoft.com/office/powerpoint/2010/main" val="3025908718"/>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hdr="0" dt="0"/>
  <p:txStyles>
    <p:titleStyle>
      <a:lvl1pPr algn="l" defTabSz="914400" rtl="0" eaLnBrk="1" latinLnBrk="0" hangingPunct="1">
        <a:lnSpc>
          <a:spcPct val="90000"/>
        </a:lnSpc>
        <a:spcBef>
          <a:spcPct val="0"/>
        </a:spcBef>
        <a:buNone/>
        <a:defRPr sz="4400" b="1" strike="noStrike" kern="1200">
          <a:solidFill>
            <a:schemeClr val="tx1"/>
          </a:solidFill>
          <a:effectLst>
            <a:outerShdw blurRad="38100" dist="38100" dir="2700000" algn="tl">
              <a:srgbClr val="000000">
                <a:alpha val="43137"/>
              </a:srgbClr>
            </a:outerShdw>
          </a:effectLst>
          <a:latin typeface="Centaur" panose="020305040502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chemeClr val="tx1"/>
          </a:solidFill>
          <a:latin typeface="Maiandra GD" panose="020E0502030308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1" kern="1200">
          <a:solidFill>
            <a:schemeClr val="tx1"/>
          </a:solidFill>
          <a:latin typeface="Maiandra GD" panose="020E0502030308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1" kern="1200">
          <a:solidFill>
            <a:schemeClr val="tx1"/>
          </a:solidFill>
          <a:latin typeface="Maiandra GD" panose="020E0502030308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Maiandra GD" panose="020E0502030308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1" kern="1200">
          <a:solidFill>
            <a:schemeClr val="tx1"/>
          </a:solidFill>
          <a:latin typeface="Maiandra GD" panose="020E0502030308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8" Type="http://schemas.openxmlformats.org/officeDocument/2006/relationships/hyperlink" Target="https://www.sciencedirect.com/science/article/pii/S1877705816338036" TargetMode="External"/><Relationship Id="rId3" Type="http://schemas.openxmlformats.org/officeDocument/2006/relationships/hyperlink" Target="https://ieeexplore.ieee.org/abstract/document/10173815/" TargetMode="External"/><Relationship Id="rId7" Type="http://schemas.openxmlformats.org/officeDocument/2006/relationships/hyperlink" Target="https://ieeexplore.ieee.org/abstract/document/10690239/" TargetMode="External"/><Relationship Id="rId2" Type="http://schemas.openxmlformats.org/officeDocument/2006/relationships/hyperlink" Target="https://ieeexplore.ieee.org/abstract/document/10168678/" TargetMode="External"/><Relationship Id="rId1" Type="http://schemas.openxmlformats.org/officeDocument/2006/relationships/slideLayout" Target="../slideLayouts/slideLayout2.xml"/><Relationship Id="rId6" Type="http://schemas.openxmlformats.org/officeDocument/2006/relationships/hyperlink" Target="https://webthesis.biblio.polito.it/21028/" TargetMode="External"/><Relationship Id="rId5" Type="http://schemas.openxmlformats.org/officeDocument/2006/relationships/hyperlink" Target="https://www.sciencedirect.com/science/article/pii/S1364032117303805" TargetMode="External"/><Relationship Id="rId4" Type="http://schemas.openxmlformats.org/officeDocument/2006/relationships/hyperlink" Target="https://www.tandfonline.com/doi/abs/10.1080/15435075.2024.2421325" TargetMode="External"/><Relationship Id="rId9" Type="http://schemas.openxmlformats.org/officeDocument/2006/relationships/hyperlink" Target="https://ieeexplore.ieee.org/abstract/document/11122065/" TargetMode="External"/></Relationships>
</file>

<file path=ppt/slides/_rels/slide18.xml.rels><?xml version="1.0" encoding="UTF-8" standalone="yes"?>
<Relationships xmlns="http://schemas.openxmlformats.org/package/2006/relationships"><Relationship Id="rId8" Type="http://schemas.openxmlformats.org/officeDocument/2006/relationships/hyperlink" Target="https://ieeexplore.ieee.org/abstract/document/9366739/" TargetMode="External"/><Relationship Id="rId3" Type="http://schemas.openxmlformats.org/officeDocument/2006/relationships/hyperlink" Target="https://www.sciencedirect.com/science/article/pii/S0960148123017147" TargetMode="External"/><Relationship Id="rId7" Type="http://schemas.openxmlformats.org/officeDocument/2006/relationships/hyperlink" Target="https://jnte.ft.unand.ac.id/index.php/jnte/article/view/1061" TargetMode="External"/><Relationship Id="rId2" Type="http://schemas.openxmlformats.org/officeDocument/2006/relationships/hyperlink" Target="https://ieeexplore.ieee.org/abstract/document/10291805/" TargetMode="External"/><Relationship Id="rId1" Type="http://schemas.openxmlformats.org/officeDocument/2006/relationships/slideLayout" Target="../slideLayouts/slideLayout2.xml"/><Relationship Id="rId6" Type="http://schemas.openxmlformats.org/officeDocument/2006/relationships/hyperlink" Target="https://ieeexplore.ieee.org/abstract/document/11121954/" TargetMode="External"/><Relationship Id="rId5" Type="http://schemas.openxmlformats.org/officeDocument/2006/relationships/hyperlink" Target="https://ieeexplore.ieee.org/abstract/document/10332212/" TargetMode="External"/><Relationship Id="rId4" Type="http://schemas.openxmlformats.org/officeDocument/2006/relationships/hyperlink" Target="https://academic.oup.com/ce/article-abstract/7/2/408/7095608" TargetMode="External"/><Relationship Id="rId9" Type="http://schemas.openxmlformats.org/officeDocument/2006/relationships/hyperlink" Target="https://www.sciencedirect.com/science/article/pii/S030626192030552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IN" dirty="0"/>
              <a:t>Project Guide:</a:t>
            </a:r>
          </a:p>
          <a:p>
            <a:r>
              <a:rPr lang="en-IN" dirty="0"/>
              <a:t>Mr. S. Bhargav</a:t>
            </a:r>
          </a:p>
          <a:p>
            <a:r>
              <a:rPr lang="en-IN" dirty="0"/>
              <a:t>assistant professor, Dept. of EIE</a:t>
            </a:r>
          </a:p>
          <a:p>
            <a:r>
              <a:rPr lang="en-IN" dirty="0"/>
              <a:t>VNRVJIET</a:t>
            </a:r>
          </a:p>
          <a:p>
            <a:r>
              <a:rPr lang="en-IN" dirty="0"/>
              <a:t>Presented by:</a:t>
            </a:r>
          </a:p>
          <a:p>
            <a:r>
              <a:rPr lang="en-IN" dirty="0"/>
              <a:t>Shasheendra (22071A1073)</a:t>
            </a:r>
          </a:p>
          <a:p>
            <a:r>
              <a:rPr lang="en-IN" dirty="0"/>
              <a:t>Arnav (22071A1083)</a:t>
            </a:r>
          </a:p>
          <a:p>
            <a:r>
              <a:rPr lang="en-IN" dirty="0"/>
              <a:t>Anand (22071A10B2)</a:t>
            </a:r>
          </a:p>
        </p:txBody>
      </p:sp>
      <p:sp>
        <p:nvSpPr>
          <p:cNvPr id="2" name="Title 1"/>
          <p:cNvSpPr>
            <a:spLocks noGrp="1"/>
          </p:cNvSpPr>
          <p:nvPr>
            <p:ph type="ctrTitle"/>
          </p:nvPr>
        </p:nvSpPr>
        <p:spPr>
          <a:xfrm>
            <a:off x="1391399" y="333000"/>
            <a:ext cx="10440000" cy="4230000"/>
          </a:xfrm>
        </p:spPr>
        <p:txBody>
          <a:bodyPr>
            <a:normAutofit/>
          </a:bodyPr>
          <a:lstStyle/>
          <a:p>
            <a:r>
              <a:rPr lang="en-US" sz="4400" dirty="0">
                <a:effectLst/>
              </a:rPr>
              <a:t>Renewable Energy Powered IoT System for Plant Water Stress Monitoring</a:t>
            </a:r>
            <a:endParaRPr lang="en-IN" sz="4400" dirty="0"/>
          </a:p>
        </p:txBody>
      </p:sp>
      <p:sp>
        <p:nvSpPr>
          <p:cNvPr id="6" name="Footer Placeholder 5"/>
          <p:cNvSpPr>
            <a:spLocks noGrp="1"/>
          </p:cNvSpPr>
          <p:nvPr>
            <p:ph type="ftr" sz="quarter" idx="3"/>
          </p:nvPr>
        </p:nvSpPr>
        <p:spPr/>
        <p:txBody>
          <a:body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535939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B4016-B84A-1C06-5503-5B9033716BF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49D1B7A1-4CC6-5CFE-722C-81E49F2FE217}"/>
              </a:ext>
            </a:extLst>
          </p:cNvPr>
          <p:cNvSpPr>
            <a:spLocks noGrp="1"/>
          </p:cNvSpPr>
          <p:nvPr>
            <p:ph type="title"/>
          </p:nvPr>
        </p:nvSpPr>
        <p:spPr>
          <a:xfrm>
            <a:off x="1620000" y="109750"/>
            <a:ext cx="10440000" cy="1350000"/>
          </a:xfrm>
        </p:spPr>
        <p:txBody>
          <a:bodyPr>
            <a:normAutofit/>
          </a:bodyPr>
          <a:lstStyle/>
          <a:p>
            <a:r>
              <a:rPr lang="en-US" dirty="0">
                <a:effectLst/>
              </a:rPr>
              <a:t>Circuit Diagram </a:t>
            </a:r>
            <a:endParaRPr lang="en-IN" dirty="0"/>
          </a:p>
        </p:txBody>
      </p:sp>
      <p:sp>
        <p:nvSpPr>
          <p:cNvPr id="7" name="Footer Placeholder 6">
            <a:extLst>
              <a:ext uri="{FF2B5EF4-FFF2-40B4-BE49-F238E27FC236}">
                <a16:creationId xmlns:a16="http://schemas.microsoft.com/office/drawing/2014/main" id="{AECCC1C9-B636-1FC4-A6BA-A95C6311A2CA}"/>
              </a:ext>
            </a:extLst>
          </p:cNvPr>
          <p:cNvSpPr>
            <a:spLocks noGrp="1"/>
          </p:cNvSpPr>
          <p:nvPr>
            <p:ph type="ftr" sz="quarter" idx="11"/>
          </p:nvPr>
        </p:nvSpPr>
        <p:spPr/>
        <p:txBody>
          <a:bodyPr/>
          <a:lstStyle/>
          <a:p>
            <a:r>
              <a:rPr lang="en-IN" sz="2000">
                <a:latin typeface="Maiandra GD" panose="020E0502030308020204" pitchFamily="34" charset="0"/>
              </a:rPr>
              <a:t>Department of Electronics &amp; Instrumentation Engineering, VNRVJIET</a:t>
            </a:r>
            <a:endParaRPr lang="en-IN" sz="2000" dirty="0">
              <a:latin typeface="Maiandra GD" panose="020E0502030308020204" pitchFamily="34" charset="0"/>
            </a:endParaRPr>
          </a:p>
        </p:txBody>
      </p:sp>
      <p:sp>
        <p:nvSpPr>
          <p:cNvPr id="8" name="Slide Number Placeholder 7">
            <a:extLst>
              <a:ext uri="{FF2B5EF4-FFF2-40B4-BE49-F238E27FC236}">
                <a16:creationId xmlns:a16="http://schemas.microsoft.com/office/drawing/2014/main" id="{467ADA4A-4AC5-B791-204F-E2A6A5D50726}"/>
              </a:ext>
            </a:extLst>
          </p:cNvPr>
          <p:cNvSpPr>
            <a:spLocks noGrp="1"/>
          </p:cNvSpPr>
          <p:nvPr>
            <p:ph type="sldNum" sz="quarter" idx="12"/>
          </p:nvPr>
        </p:nvSpPr>
        <p:spPr/>
        <p:txBody>
          <a:bodyPr/>
          <a:lstStyle/>
          <a:p>
            <a:fld id="{EEC824EF-4F39-42CE-B61A-92299691A099}" type="slidenum">
              <a:rPr lang="en-IN" sz="2000" smtClean="0">
                <a:latin typeface="Maiandra GD" panose="020E0502030308020204" pitchFamily="34" charset="0"/>
              </a:rPr>
              <a:t>2</a:t>
            </a:fld>
            <a:endParaRPr lang="en-IN" sz="2000">
              <a:latin typeface="Maiandra GD" panose="020E0502030308020204" pitchFamily="34" charset="0"/>
            </a:endParaRPr>
          </a:p>
        </p:txBody>
      </p:sp>
      <p:pic>
        <p:nvPicPr>
          <p:cNvPr id="10" name="Picture 9">
            <a:extLst>
              <a:ext uri="{FF2B5EF4-FFF2-40B4-BE49-F238E27FC236}">
                <a16:creationId xmlns:a16="http://schemas.microsoft.com/office/drawing/2014/main" id="{6D2A7637-1B4E-D245-F487-1B646179C16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239894" y="1420248"/>
            <a:ext cx="7653913" cy="5102608"/>
          </a:xfrm>
          <a:prstGeom prst="rect">
            <a:avLst/>
          </a:prstGeom>
        </p:spPr>
      </p:pic>
    </p:spTree>
    <p:extLst>
      <p:ext uri="{BB962C8B-B14F-4D97-AF65-F5344CB8AC3E}">
        <p14:creationId xmlns:p14="http://schemas.microsoft.com/office/powerpoint/2010/main" val="2512727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Presentation Outline</a:t>
            </a:r>
          </a:p>
        </p:txBody>
      </p:sp>
      <p:sp>
        <p:nvSpPr>
          <p:cNvPr id="3" name="Content Placeholder 2"/>
          <p:cNvSpPr>
            <a:spLocks noGrp="1"/>
          </p:cNvSpPr>
          <p:nvPr>
            <p:ph sz="half" idx="1"/>
          </p:nvPr>
        </p:nvSpPr>
        <p:spPr>
          <a:xfrm>
            <a:off x="158399" y="1452875"/>
            <a:ext cx="10747023" cy="5040000"/>
          </a:xfrm>
        </p:spPr>
        <p:txBody>
          <a:bodyPr>
            <a:normAutofit fontScale="85000" lnSpcReduction="20000"/>
          </a:bodyPr>
          <a:lstStyle/>
          <a:p>
            <a:endParaRPr lang="en-IN" dirty="0"/>
          </a:p>
          <a:p>
            <a:endParaRPr lang="en-IN" dirty="0"/>
          </a:p>
          <a:p>
            <a:r>
              <a:rPr lang="en-IN" dirty="0"/>
              <a:t>Introduction</a:t>
            </a:r>
          </a:p>
          <a:p>
            <a:r>
              <a:rPr lang="en-IN" dirty="0"/>
              <a:t>Literature Survey</a:t>
            </a:r>
          </a:p>
          <a:p>
            <a:r>
              <a:rPr lang="en-IN" dirty="0"/>
              <a:t>Problem Identification</a:t>
            </a:r>
          </a:p>
          <a:p>
            <a:r>
              <a:rPr lang="en-IN" dirty="0"/>
              <a:t>Methodology</a:t>
            </a:r>
          </a:p>
          <a:p>
            <a:r>
              <a:rPr lang="en-IN" dirty="0"/>
              <a:t>Block Diagram</a:t>
            </a:r>
          </a:p>
          <a:p>
            <a:r>
              <a:rPr lang="en-IN" dirty="0"/>
              <a:t>Flow Chart</a:t>
            </a:r>
          </a:p>
          <a:p>
            <a:r>
              <a:rPr lang="en-US" dirty="0"/>
              <a:t>Circuit Diagram </a:t>
            </a:r>
            <a:endParaRPr lang="en-IN" dirty="0"/>
          </a:p>
          <a:p>
            <a:r>
              <a:rPr lang="en-IN" dirty="0"/>
              <a:t>Development and Implementation</a:t>
            </a:r>
          </a:p>
          <a:p>
            <a:r>
              <a:rPr lang="en-IN" dirty="0"/>
              <a:t>Results and Discussion</a:t>
            </a:r>
          </a:p>
          <a:p>
            <a:r>
              <a:rPr lang="en-IN" dirty="0"/>
              <a:t>Conclusion and Future Scope</a:t>
            </a:r>
          </a:p>
          <a:p>
            <a:r>
              <a:rPr lang="en-IN" dirty="0"/>
              <a:t>References</a:t>
            </a:r>
          </a:p>
          <a:p>
            <a:pPr marL="0" indent="0">
              <a:buNone/>
            </a:pPr>
            <a:endParaRPr lang="en-IN" dirty="0"/>
          </a:p>
        </p:txBody>
      </p:sp>
      <p:sp>
        <p:nvSpPr>
          <p:cNvPr id="5" name="Footer Placeholder 4"/>
          <p:cNvSpPr>
            <a:spLocks noGrp="1"/>
          </p:cNvSpPr>
          <p:nvPr>
            <p:ph type="ftr" sz="quarter" idx="11"/>
          </p:nvPr>
        </p:nvSpPr>
        <p:spPr/>
        <p:txBody>
          <a:bodyPr/>
          <a:lstStyle/>
          <a:p>
            <a:r>
              <a:rPr lang="en-IN"/>
              <a:t>Department of Electronics &amp; Instrumentation Engineering, VNRVJIET</a:t>
            </a:r>
            <a:endParaRPr lang="en-IN" dirty="0"/>
          </a:p>
        </p:txBody>
      </p:sp>
      <p:sp>
        <p:nvSpPr>
          <p:cNvPr id="4" name="Slide Number Placeholder 3"/>
          <p:cNvSpPr>
            <a:spLocks noGrp="1"/>
          </p:cNvSpPr>
          <p:nvPr>
            <p:ph type="sldNum" sz="quarter" idx="12"/>
          </p:nvPr>
        </p:nvSpPr>
        <p:spPr/>
        <p:txBody>
          <a:bodyPr/>
          <a:lstStyle/>
          <a:p>
            <a:fld id="{EEC824EF-4F39-42CE-B61A-92299691A099}" type="slidenum">
              <a:rPr lang="en-IN" smtClean="0"/>
              <a:pPr/>
              <a:t>3</a:t>
            </a:fld>
            <a:endParaRPr lang="en-IN"/>
          </a:p>
        </p:txBody>
      </p:sp>
    </p:spTree>
    <p:extLst>
      <p:ext uri="{BB962C8B-B14F-4D97-AF65-F5344CB8AC3E}">
        <p14:creationId xmlns:p14="http://schemas.microsoft.com/office/powerpoint/2010/main" val="3392073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Introduction</a:t>
            </a:r>
          </a:p>
        </p:txBody>
      </p:sp>
      <p:sp>
        <p:nvSpPr>
          <p:cNvPr id="4" name="Slide Number Placeholder 3"/>
          <p:cNvSpPr>
            <a:spLocks noGrp="1"/>
          </p:cNvSpPr>
          <p:nvPr>
            <p:ph type="sldNum" sz="quarter" idx="12"/>
          </p:nvPr>
        </p:nvSpPr>
        <p:spPr/>
        <p:txBody>
          <a:bodyPr/>
          <a:lstStyle/>
          <a:p>
            <a:fld id="{EEC824EF-4F39-42CE-B61A-92299691A099}" type="slidenum">
              <a:rPr lang="en-IN" smtClean="0"/>
              <a:t>4</a:t>
            </a:fld>
            <a:endParaRPr lang="en-IN"/>
          </a:p>
        </p:txBody>
      </p:sp>
      <p:sp>
        <p:nvSpPr>
          <p:cNvPr id="5" name="Footer Placeholder 4"/>
          <p:cNvSpPr>
            <a:spLocks noGrp="1"/>
          </p:cNvSpPr>
          <p:nvPr>
            <p:ph type="ftr" sz="quarter" idx="3"/>
          </p:nvPr>
        </p:nvSpPr>
        <p:spPr/>
        <p:txBody>
          <a:bodyPr/>
          <a:lstStyle/>
          <a:p>
            <a:r>
              <a:rPr lang="en-IN"/>
              <a:t>Department of Electronics &amp; Instrumentation Engineering, VNRVJIET</a:t>
            </a:r>
            <a:endParaRPr lang="en-IN" dirty="0"/>
          </a:p>
        </p:txBody>
      </p:sp>
      <p:sp>
        <p:nvSpPr>
          <p:cNvPr id="8" name="Rectangle 3">
            <a:extLst>
              <a:ext uri="{FF2B5EF4-FFF2-40B4-BE49-F238E27FC236}">
                <a16:creationId xmlns:a16="http://schemas.microsoft.com/office/drawing/2014/main" id="{3ADC115B-4A6D-0120-F589-8683799B50CF}"/>
              </a:ext>
            </a:extLst>
          </p:cNvPr>
          <p:cNvSpPr>
            <a:spLocks noGrp="1" noChangeArrowheads="1"/>
          </p:cNvSpPr>
          <p:nvPr>
            <p:ph idx="1"/>
          </p:nvPr>
        </p:nvSpPr>
        <p:spPr bwMode="auto">
          <a:xfrm>
            <a:off x="190198" y="1548811"/>
            <a:ext cx="1181160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Agriculture today demands </a:t>
            </a:r>
            <a:r>
              <a:rPr kumimoji="0" lang="en-US" altLang="en-US" sz="2400" b="1" i="0" u="none" strike="noStrike" cap="none" normalizeH="0" baseline="0" dirty="0">
                <a:ln>
                  <a:noFill/>
                </a:ln>
                <a:solidFill>
                  <a:schemeClr val="tx1"/>
                </a:solidFill>
                <a:effectLst/>
              </a:rPr>
              <a:t>efficient water management</a:t>
            </a:r>
            <a:r>
              <a:rPr kumimoji="0" lang="en-US" altLang="en-US" sz="2400" b="0" i="0" u="none" strike="noStrike" cap="none" normalizeH="0" baseline="0" dirty="0">
                <a:ln>
                  <a:noFill/>
                </a:ln>
                <a:solidFill>
                  <a:schemeClr val="tx1"/>
                </a:solidFill>
                <a:effectLst/>
              </a:rPr>
              <a:t> due to rising </a:t>
            </a:r>
            <a:r>
              <a:rPr kumimoji="0" lang="en-US" altLang="en-US" sz="2400" b="1" i="0" u="none" strike="noStrike" cap="none" normalizeH="0" baseline="0" dirty="0">
                <a:ln>
                  <a:noFill/>
                </a:ln>
                <a:solidFill>
                  <a:schemeClr val="tx1"/>
                </a:solidFill>
                <a:effectLst/>
              </a:rPr>
              <a:t>climate change impacts</a:t>
            </a:r>
            <a:r>
              <a:rPr kumimoji="0" lang="en-US" altLang="en-US" sz="2400" b="0" i="0" u="none" strike="noStrike" cap="none" normalizeH="0" baseline="0" dirty="0">
                <a:ln>
                  <a:noFill/>
                </a:ln>
                <a:solidFill>
                  <a:schemeClr val="tx1"/>
                </a:solidFill>
                <a:effectLst/>
              </a:rPr>
              <a:t> and </a:t>
            </a:r>
            <a:r>
              <a:rPr kumimoji="0" lang="en-US" altLang="en-US" sz="2400" b="1" i="0" u="none" strike="noStrike" cap="none" normalizeH="0" baseline="0" dirty="0">
                <a:ln>
                  <a:noFill/>
                </a:ln>
                <a:solidFill>
                  <a:schemeClr val="tx1"/>
                </a:solidFill>
                <a:effectLst/>
              </a:rPr>
              <a:t>freshwater scarcity</a:t>
            </a:r>
            <a:r>
              <a:rPr kumimoji="0" lang="en-US" altLang="en-US" sz="24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Conventional irrigation systems rely on </a:t>
            </a:r>
            <a:r>
              <a:rPr kumimoji="0" lang="en-US" altLang="en-US" sz="2400" b="1" i="0" u="none" strike="noStrike" cap="none" normalizeH="0" baseline="0" dirty="0">
                <a:ln>
                  <a:noFill/>
                </a:ln>
                <a:solidFill>
                  <a:schemeClr val="tx1"/>
                </a:solidFill>
                <a:effectLst/>
              </a:rPr>
              <a:t>manual or indirect soil measurements</a:t>
            </a:r>
            <a:r>
              <a:rPr kumimoji="0" lang="en-US" altLang="en-US" sz="2400" b="0" i="0" u="none" strike="noStrike" cap="none" normalizeH="0" baseline="0" dirty="0">
                <a:ln>
                  <a:noFill/>
                </a:ln>
                <a:solidFill>
                  <a:schemeClr val="tx1"/>
                </a:solidFill>
                <a:effectLst/>
              </a:rPr>
              <a:t>, often leading to </a:t>
            </a:r>
            <a:r>
              <a:rPr kumimoji="0" lang="en-US" altLang="en-US" sz="2400" b="1" i="0" u="none" strike="noStrike" cap="none" normalizeH="0" baseline="0" dirty="0">
                <a:ln>
                  <a:noFill/>
                </a:ln>
                <a:solidFill>
                  <a:schemeClr val="tx1"/>
                </a:solidFill>
                <a:effectLst/>
              </a:rPr>
              <a:t>overwatering or under-watering</a:t>
            </a:r>
            <a:r>
              <a:rPr kumimoji="0" lang="en-US" altLang="en-US" sz="2400" b="0" i="0" u="none" strike="noStrike" cap="none" normalizeH="0" baseline="0" dirty="0">
                <a:ln>
                  <a:noFill/>
                </a:ln>
                <a:solidFill>
                  <a:schemeClr val="tx1"/>
                </a:solidFill>
                <a:effectLst/>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The proposed system directly </a:t>
            </a:r>
            <a:r>
              <a:rPr kumimoji="0" lang="en-US" altLang="en-US" sz="2400" b="1" i="0" u="none" strike="noStrike" cap="none" normalizeH="0" baseline="0" dirty="0">
                <a:ln>
                  <a:noFill/>
                </a:ln>
                <a:solidFill>
                  <a:schemeClr val="tx1"/>
                </a:solidFill>
                <a:effectLst/>
              </a:rPr>
              <a:t>monitors plant water stress</a:t>
            </a:r>
            <a:r>
              <a:rPr kumimoji="0" lang="en-US" altLang="en-US" sz="2400" b="0" i="0" u="none" strike="noStrike" cap="none" normalizeH="0" baseline="0" dirty="0">
                <a:ln>
                  <a:noFill/>
                </a:ln>
                <a:solidFill>
                  <a:schemeClr val="tx1"/>
                </a:solidFill>
                <a:effectLst/>
              </a:rPr>
              <a:t> using</a:t>
            </a:r>
            <a:r>
              <a:rPr kumimoji="0" lang="en-US" altLang="en-US" sz="2400" b="1" i="0" u="none" strike="noStrike" cap="none" normalizeH="0" baseline="0" dirty="0">
                <a:ln>
                  <a:noFill/>
                </a:ln>
                <a:solidFill>
                  <a:schemeClr val="tx1"/>
                </a:solidFill>
                <a:effectLst/>
              </a:rPr>
              <a:t> IoT technology</a:t>
            </a:r>
            <a:r>
              <a:rPr kumimoji="0" lang="en-US" altLang="en-US" sz="2400" b="0" i="0" u="none" strike="noStrike" cap="none" normalizeH="0" baseline="0" dirty="0">
                <a:ln>
                  <a:noFill/>
                </a:ln>
                <a:solidFill>
                  <a:schemeClr val="tx1"/>
                </a:solidFill>
                <a:effectLst/>
              </a:rPr>
              <a:t> to ensure precise irrigation control.</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The entire setup is powered by </a:t>
            </a:r>
            <a:r>
              <a:rPr kumimoji="0" lang="en-US" altLang="en-US" sz="2400" b="1" i="0" u="none" strike="noStrike" cap="none" normalizeH="0" baseline="0" dirty="0">
                <a:ln>
                  <a:noFill/>
                </a:ln>
                <a:solidFill>
                  <a:schemeClr val="tx1"/>
                </a:solidFill>
                <a:effectLst/>
              </a:rPr>
              <a:t>renewable energy sources</a:t>
            </a:r>
            <a:r>
              <a:rPr kumimoji="0" lang="en-US" altLang="en-US" sz="2400" b="0" i="0" u="none" strike="noStrike" cap="none" normalizeH="0" baseline="0" dirty="0">
                <a:ln>
                  <a:noFill/>
                </a:ln>
                <a:solidFill>
                  <a:schemeClr val="tx1"/>
                </a:solidFill>
                <a:effectLst/>
              </a:rPr>
              <a:t> like </a:t>
            </a:r>
            <a:r>
              <a:rPr kumimoji="0" lang="en-US" altLang="en-US" sz="2400" b="1" i="0" u="none" strike="noStrike" cap="none" normalizeH="0" baseline="0" dirty="0">
                <a:ln>
                  <a:noFill/>
                </a:ln>
                <a:solidFill>
                  <a:schemeClr val="tx1"/>
                </a:solidFill>
                <a:effectLst/>
              </a:rPr>
              <a:t>solar panels</a:t>
            </a:r>
            <a:r>
              <a:rPr kumimoji="0" lang="en-US" altLang="en-US" sz="2400" b="0" i="0" u="none" strike="noStrike" cap="none" normalizeH="0" baseline="0" dirty="0">
                <a:ln>
                  <a:noFill/>
                </a:ln>
                <a:solidFill>
                  <a:schemeClr val="tx1"/>
                </a:solidFill>
                <a:effectLst/>
              </a:rPr>
              <a:t> and </a:t>
            </a:r>
            <a:r>
              <a:rPr kumimoji="0" lang="en-US" altLang="en-US" sz="2400" b="1" i="0" u="none" strike="noStrike" cap="none" normalizeH="0" baseline="0" dirty="0">
                <a:ln>
                  <a:noFill/>
                </a:ln>
                <a:solidFill>
                  <a:schemeClr val="tx1"/>
                </a:solidFill>
                <a:effectLst/>
              </a:rPr>
              <a:t>plant microbial fuel cells (PMFCs)</a:t>
            </a:r>
            <a:r>
              <a:rPr kumimoji="0" lang="en-US" altLang="en-US" sz="2400" b="0" i="0" u="none" strike="noStrike" cap="none" normalizeH="0" baseline="0" dirty="0">
                <a:ln>
                  <a:noFill/>
                </a:ln>
                <a:solidFill>
                  <a:schemeClr val="tx1"/>
                </a:solidFill>
                <a:effectLst/>
              </a:rPr>
              <a:t> for sustainable operation.</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Sensor data is sent to a </a:t>
            </a:r>
            <a:r>
              <a:rPr kumimoji="0" lang="en-US" altLang="en-US" sz="2400" b="1" i="0" u="none" strike="noStrike" cap="none" normalizeH="0" baseline="0" dirty="0">
                <a:ln>
                  <a:noFill/>
                </a:ln>
                <a:solidFill>
                  <a:schemeClr val="tx1"/>
                </a:solidFill>
                <a:effectLst/>
              </a:rPr>
              <a:t>microcontroller and IoT platform</a:t>
            </a:r>
            <a:r>
              <a:rPr kumimoji="0" lang="en-US" altLang="en-US" sz="2400" b="0" i="0" u="none" strike="noStrike" cap="none" normalizeH="0" baseline="0" dirty="0">
                <a:ln>
                  <a:noFill/>
                </a:ln>
                <a:solidFill>
                  <a:schemeClr val="tx1"/>
                </a:solidFill>
                <a:effectLst/>
              </a:rPr>
              <a:t> for real-time monitoring and decision-making.</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 This project aims to create a </a:t>
            </a:r>
            <a:r>
              <a:rPr kumimoji="0" lang="en-US" altLang="en-US" sz="2400" b="1" i="0" u="none" strike="noStrike" cap="none" normalizeH="0" baseline="0" dirty="0">
                <a:ln>
                  <a:noFill/>
                </a:ln>
                <a:solidFill>
                  <a:schemeClr val="tx1"/>
                </a:solidFill>
                <a:effectLst/>
              </a:rPr>
              <a:t>self-sustaining, eco-friendly, and automated system</a:t>
            </a:r>
            <a:r>
              <a:rPr kumimoji="0" lang="en-US" altLang="en-US" sz="2400" b="0" i="0" u="none" strike="noStrike" cap="none" normalizeH="0" baseline="0" dirty="0">
                <a:ln>
                  <a:noFill/>
                </a:ln>
                <a:solidFill>
                  <a:schemeClr val="tx1"/>
                </a:solidFill>
                <a:effectLst/>
              </a:rPr>
              <a:t> that promotes </a:t>
            </a:r>
            <a:r>
              <a:rPr kumimoji="0" lang="en-US" altLang="en-US" sz="2400" b="1" i="0" u="none" strike="noStrike" cap="none" normalizeH="0" baseline="0" dirty="0">
                <a:ln>
                  <a:noFill/>
                </a:ln>
                <a:solidFill>
                  <a:schemeClr val="tx1"/>
                </a:solidFill>
                <a:effectLst/>
              </a:rPr>
              <a:t>smart agriculture and resource conservation</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1636070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19D19-67A8-2E1C-607A-CCB2DEEDC0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61493-9887-17B5-75D1-87C86984CE53}"/>
              </a:ext>
            </a:extLst>
          </p:cNvPr>
          <p:cNvSpPr>
            <a:spLocks noGrp="1"/>
          </p:cNvSpPr>
          <p:nvPr>
            <p:ph type="title"/>
          </p:nvPr>
        </p:nvSpPr>
        <p:spPr/>
        <p:txBody>
          <a:bodyPr/>
          <a:lstStyle/>
          <a:p>
            <a:r>
              <a:rPr lang="en-IN" dirty="0"/>
              <a:t>Literature Survey</a:t>
            </a:r>
          </a:p>
        </p:txBody>
      </p:sp>
      <p:sp>
        <p:nvSpPr>
          <p:cNvPr id="4" name="Slide Number Placeholder 3">
            <a:extLst>
              <a:ext uri="{FF2B5EF4-FFF2-40B4-BE49-F238E27FC236}">
                <a16:creationId xmlns:a16="http://schemas.microsoft.com/office/drawing/2014/main" id="{032D5056-3134-04E9-C401-0D099D2FF94B}"/>
              </a:ext>
            </a:extLst>
          </p:cNvPr>
          <p:cNvSpPr>
            <a:spLocks noGrp="1"/>
          </p:cNvSpPr>
          <p:nvPr>
            <p:ph type="sldNum" sz="quarter" idx="12"/>
          </p:nvPr>
        </p:nvSpPr>
        <p:spPr/>
        <p:txBody>
          <a:bodyPr/>
          <a:lstStyle/>
          <a:p>
            <a:fld id="{EEC824EF-4F39-42CE-B61A-92299691A099}" type="slidenum">
              <a:rPr lang="en-IN" smtClean="0"/>
              <a:t>5</a:t>
            </a:fld>
            <a:endParaRPr lang="en-IN"/>
          </a:p>
        </p:txBody>
      </p:sp>
      <p:sp>
        <p:nvSpPr>
          <p:cNvPr id="5" name="Footer Placeholder 4">
            <a:extLst>
              <a:ext uri="{FF2B5EF4-FFF2-40B4-BE49-F238E27FC236}">
                <a16:creationId xmlns:a16="http://schemas.microsoft.com/office/drawing/2014/main" id="{C0A7C45C-15BA-9E1A-F32F-55654226274B}"/>
              </a:ext>
            </a:extLst>
          </p:cNvPr>
          <p:cNvSpPr>
            <a:spLocks noGrp="1"/>
          </p:cNvSpPr>
          <p:nvPr>
            <p:ph type="ftr" sz="quarter" idx="3"/>
          </p:nvPr>
        </p:nvSpPr>
        <p:spPr/>
        <p:txBody>
          <a:bodyPr/>
          <a:lstStyle/>
          <a:p>
            <a:r>
              <a:rPr lang="en-IN"/>
              <a:t>Department of Electronics &amp; Instrumentation Engineering, VNRVJIET</a:t>
            </a:r>
            <a:endParaRPr lang="en-IN" dirty="0"/>
          </a:p>
        </p:txBody>
      </p:sp>
      <p:graphicFrame>
        <p:nvGraphicFramePr>
          <p:cNvPr id="6" name="Table 10">
            <a:extLst>
              <a:ext uri="{FF2B5EF4-FFF2-40B4-BE49-F238E27FC236}">
                <a16:creationId xmlns:a16="http://schemas.microsoft.com/office/drawing/2014/main" id="{74608275-2546-F3F4-A89F-5277638FBBC5}"/>
              </a:ext>
            </a:extLst>
          </p:cNvPr>
          <p:cNvGraphicFramePr>
            <a:graphicFrameLocks noGrp="1"/>
          </p:cNvGraphicFramePr>
          <p:nvPr>
            <p:ph idx="1"/>
            <p:extLst>
              <p:ext uri="{D42A27DB-BD31-4B8C-83A1-F6EECF244321}">
                <p14:modId xmlns:p14="http://schemas.microsoft.com/office/powerpoint/2010/main" val="113462462"/>
              </p:ext>
            </p:extLst>
          </p:nvPr>
        </p:nvGraphicFramePr>
        <p:xfrm>
          <a:off x="1" y="1359166"/>
          <a:ext cx="12191999" cy="5552648"/>
        </p:xfrm>
        <a:graphic>
          <a:graphicData uri="http://schemas.openxmlformats.org/drawingml/2006/table">
            <a:tbl>
              <a:tblPr firstRow="1" bandRow="1">
                <a:tableStyleId>{5C22544A-7EE6-4342-B048-85BDC9FD1C3A}</a:tableStyleId>
              </a:tblPr>
              <a:tblGrid>
                <a:gridCol w="661296">
                  <a:extLst>
                    <a:ext uri="{9D8B030D-6E8A-4147-A177-3AD203B41FA5}">
                      <a16:colId xmlns:a16="http://schemas.microsoft.com/office/drawing/2014/main" val="1116623261"/>
                    </a:ext>
                  </a:extLst>
                </a:gridCol>
                <a:gridCol w="2178891">
                  <a:extLst>
                    <a:ext uri="{9D8B030D-6E8A-4147-A177-3AD203B41FA5}">
                      <a16:colId xmlns:a16="http://schemas.microsoft.com/office/drawing/2014/main" val="4107597996"/>
                    </a:ext>
                  </a:extLst>
                </a:gridCol>
                <a:gridCol w="2317621">
                  <a:extLst>
                    <a:ext uri="{9D8B030D-6E8A-4147-A177-3AD203B41FA5}">
                      <a16:colId xmlns:a16="http://schemas.microsoft.com/office/drawing/2014/main" val="577272133"/>
                    </a:ext>
                  </a:extLst>
                </a:gridCol>
                <a:gridCol w="3443785">
                  <a:extLst>
                    <a:ext uri="{9D8B030D-6E8A-4147-A177-3AD203B41FA5}">
                      <a16:colId xmlns:a16="http://schemas.microsoft.com/office/drawing/2014/main" val="1362283944"/>
                    </a:ext>
                  </a:extLst>
                </a:gridCol>
                <a:gridCol w="3590406">
                  <a:extLst>
                    <a:ext uri="{9D8B030D-6E8A-4147-A177-3AD203B41FA5}">
                      <a16:colId xmlns:a16="http://schemas.microsoft.com/office/drawing/2014/main" val="2279739983"/>
                    </a:ext>
                  </a:extLst>
                </a:gridCol>
              </a:tblGrid>
              <a:tr h="340568">
                <a:tc>
                  <a:txBody>
                    <a:bodyPr/>
                    <a:lstStyle/>
                    <a:p>
                      <a:pPr algn="just"/>
                      <a:endParaRPr lang="en-IN" sz="1500" dirty="0">
                        <a:ln>
                          <a:solidFill>
                            <a:schemeClr val="tx1"/>
                          </a:solidFill>
                        </a:ln>
                        <a:solidFill>
                          <a:schemeClr val="bg1"/>
                        </a:solidFill>
                        <a:latin typeface="Maiandra GD" panose="020E0502030308020204" pitchFamily="34" charset="0"/>
                      </a:endParaRPr>
                    </a:p>
                  </a:txBody>
                  <a:tcPr/>
                </a:tc>
                <a:tc>
                  <a:txBody>
                    <a:bodyPr/>
                    <a:lstStyle/>
                    <a:p>
                      <a:pPr algn="just"/>
                      <a:r>
                        <a:rPr lang="en-US" sz="1500" dirty="0">
                          <a:latin typeface="Maiandra GD" panose="020E0502030308020204" pitchFamily="34" charset="0"/>
                        </a:rPr>
                        <a:t>Title of the paper</a:t>
                      </a:r>
                      <a:endParaRPr lang="en-IN" sz="1500" dirty="0">
                        <a:latin typeface="Maiandra GD" panose="020E0502030308020204" pitchFamily="34" charset="0"/>
                      </a:endParaRPr>
                    </a:p>
                  </a:txBody>
                  <a:tcPr/>
                </a:tc>
                <a:tc>
                  <a:txBody>
                    <a:bodyPr/>
                    <a:lstStyle/>
                    <a:p>
                      <a:pPr algn="just"/>
                      <a:r>
                        <a:rPr lang="en-US" sz="1500" dirty="0">
                          <a:latin typeface="Maiandra GD" panose="020E0502030308020204" pitchFamily="34" charset="0"/>
                        </a:rPr>
                        <a:t>Author Name &amp; Journal</a:t>
                      </a:r>
                      <a:endParaRPr lang="en-IN" sz="1500" dirty="0">
                        <a:latin typeface="Maiandra GD" panose="020E0502030308020204" pitchFamily="34" charset="0"/>
                      </a:endParaRPr>
                    </a:p>
                  </a:txBody>
                  <a:tcPr/>
                </a:tc>
                <a:tc>
                  <a:txBody>
                    <a:bodyPr/>
                    <a:lstStyle/>
                    <a:p>
                      <a:pPr algn="just"/>
                      <a:r>
                        <a:rPr lang="en-US" sz="1500" dirty="0">
                          <a:latin typeface="Maiandra GD" panose="020E0502030308020204" pitchFamily="34" charset="0"/>
                        </a:rPr>
                        <a:t>Methodology</a:t>
                      </a:r>
                      <a:endParaRPr lang="en-IN" sz="1500" dirty="0">
                        <a:latin typeface="Maiandra GD" panose="020E0502030308020204" pitchFamily="34" charset="0"/>
                      </a:endParaRPr>
                    </a:p>
                  </a:txBody>
                  <a:tcPr/>
                </a:tc>
                <a:tc>
                  <a:txBody>
                    <a:bodyPr/>
                    <a:lstStyle/>
                    <a:p>
                      <a:pPr algn="just"/>
                      <a:r>
                        <a:rPr lang="en-US" sz="1500" dirty="0">
                          <a:latin typeface="Maiandra GD" panose="020E0502030308020204" pitchFamily="34" charset="0"/>
                        </a:rPr>
                        <a:t>Limitations</a:t>
                      </a:r>
                      <a:endParaRPr lang="en-IN" sz="1500" dirty="0">
                        <a:latin typeface="Maiandra GD" panose="020E0502030308020204" pitchFamily="34" charset="0"/>
                      </a:endParaRPr>
                    </a:p>
                  </a:txBody>
                  <a:tcPr/>
                </a:tc>
                <a:extLst>
                  <a:ext uri="{0D108BD9-81ED-4DB2-BD59-A6C34878D82A}">
                    <a16:rowId xmlns:a16="http://schemas.microsoft.com/office/drawing/2014/main" val="3870849205"/>
                  </a:ext>
                </a:extLst>
              </a:tr>
              <a:tr h="1679569">
                <a:tc>
                  <a:txBody>
                    <a:bodyPr/>
                    <a:lstStyle/>
                    <a:p>
                      <a:pPr algn="just"/>
                      <a:r>
                        <a:rPr lang="en-IN" sz="1500" dirty="0">
                          <a:latin typeface="Maiandra GD" panose="020E0502030308020204" pitchFamily="34" charset="0"/>
                        </a:rPr>
                        <a:t>1.</a:t>
                      </a:r>
                    </a:p>
                  </a:txBody>
                  <a:tcPr/>
                </a:tc>
                <a:tc>
                  <a:txBody>
                    <a:bodyPr/>
                    <a:lstStyle/>
                    <a:p>
                      <a:pPr algn="l"/>
                      <a:r>
                        <a:rPr lang="en-US" sz="1500" dirty="0">
                          <a:latin typeface="Maiandra GD" panose="020E0502030308020204" pitchFamily="34" charset="0"/>
                        </a:rPr>
                        <a:t>A Plant-Wearable System for Its Health Monitoring by Intra- and Interplant Communication</a:t>
                      </a:r>
                      <a:endParaRPr lang="en-IN" sz="1500" dirty="0">
                        <a:latin typeface="Maiandra GD" panose="020E0502030308020204" pitchFamily="34" charset="0"/>
                      </a:endParaRPr>
                    </a:p>
                  </a:txBody>
                  <a:tcPr/>
                </a:tc>
                <a:tc>
                  <a:txBody>
                    <a:bodyPr/>
                    <a:lstStyle/>
                    <a:p>
                      <a:pPr algn="l"/>
                      <a:r>
                        <a:rPr lang="it-IT" sz="1500" dirty="0">
                          <a:latin typeface="Maiandra GD" panose="020E0502030308020204" pitchFamily="34" charset="0"/>
                        </a:rPr>
                        <a:t>Umberto Garlando, Stefano Calvo, Mattia Barezzi, , Alessandro Sanginario, Paolo Motto Ros, and Danilo Demarchi</a:t>
                      </a:r>
                    </a:p>
                    <a:p>
                      <a:pPr algn="l"/>
                      <a:r>
                        <a:rPr lang="en-US" sz="1500" b="1" dirty="0">
                          <a:latin typeface="Maiandra GD" panose="020E0502030308020204" pitchFamily="34" charset="0"/>
                        </a:rPr>
                        <a:t>IEEE Transactions on Agrifood Electronics</a:t>
                      </a:r>
                      <a:r>
                        <a:rPr lang="en-US" sz="1500" dirty="0">
                          <a:latin typeface="Maiandra GD" panose="020E0502030308020204" pitchFamily="34" charset="0"/>
                        </a:rPr>
                        <a:t>, Vol. 1, No. 2, December 2023</a:t>
                      </a:r>
                      <a:endParaRPr lang="en-IN" sz="1500" b="0" i="0" kern="1200" dirty="0">
                        <a:solidFill>
                          <a:schemeClr val="dk1"/>
                        </a:solidFill>
                        <a:effectLst/>
                        <a:latin typeface="Maiandra GD" panose="020E0502030308020204" pitchFamily="34" charset="0"/>
                        <a:ea typeface="+mn-ea"/>
                        <a:cs typeface="+mn-cs"/>
                      </a:endParaRPr>
                    </a:p>
                  </a:txBody>
                  <a:tcPr/>
                </a:tc>
                <a:tc>
                  <a:txBody>
                    <a:bodyPr/>
                    <a:lstStyle/>
                    <a:p>
                      <a:pPr algn="just"/>
                      <a:r>
                        <a:rPr lang="en-US" sz="1500" dirty="0">
                          <a:latin typeface="Maiandra GD" panose="020E0502030308020204" pitchFamily="34" charset="0"/>
                        </a:rPr>
                        <a:t>Developed a </a:t>
                      </a:r>
                      <a:r>
                        <a:rPr lang="en-US" sz="1500" b="1" dirty="0">
                          <a:latin typeface="Maiandra GD" panose="020E0502030308020204" pitchFamily="34" charset="0"/>
                        </a:rPr>
                        <a:t>plant-wearable sensor</a:t>
                      </a:r>
                      <a:r>
                        <a:rPr lang="en-US" sz="1500" dirty="0">
                          <a:latin typeface="Maiandra GD" panose="020E0502030308020204" pitchFamily="34" charset="0"/>
                        </a:rPr>
                        <a:t> that measures </a:t>
                      </a:r>
                      <a:r>
                        <a:rPr lang="en-US" sz="1500" b="1" dirty="0">
                          <a:latin typeface="Maiandra GD" panose="020E0502030308020204" pitchFamily="34" charset="0"/>
                        </a:rPr>
                        <a:t>stem electrical frequency</a:t>
                      </a:r>
                      <a:r>
                        <a:rPr lang="en-US" sz="1500" dirty="0">
                          <a:latin typeface="Maiandra GD" panose="020E0502030308020204" pitchFamily="34" charset="0"/>
                        </a:rPr>
                        <a:t> to monitor water stress. Used an </a:t>
                      </a:r>
                      <a:r>
                        <a:rPr lang="en-US" sz="1500" b="1" dirty="0">
                          <a:latin typeface="Maiandra GD" panose="020E0502030308020204" pitchFamily="34" charset="0"/>
                        </a:rPr>
                        <a:t>LMC555 oscillator</a:t>
                      </a:r>
                      <a:r>
                        <a:rPr lang="en-US" sz="1500" dirty="0">
                          <a:latin typeface="Maiandra GD" panose="020E0502030308020204" pitchFamily="34" charset="0"/>
                        </a:rPr>
                        <a:t> embedded in the stem loop. The system was </a:t>
                      </a:r>
                      <a:r>
                        <a:rPr lang="en-US" sz="1500" b="1" dirty="0">
                          <a:latin typeface="Maiandra GD" panose="020E0502030308020204" pitchFamily="34" charset="0"/>
                        </a:rPr>
                        <a:t>powered by solar and plant microbial fuel cells (PMFCs)</a:t>
                      </a:r>
                      <a:r>
                        <a:rPr lang="en-US" sz="1500" dirty="0">
                          <a:latin typeface="Maiandra GD" panose="020E0502030308020204" pitchFamily="34" charset="0"/>
                        </a:rPr>
                        <a:t>. Communication between plants occurred via </a:t>
                      </a:r>
                      <a:r>
                        <a:rPr lang="en-US" sz="1500" b="1" dirty="0">
                          <a:latin typeface="Maiandra GD" panose="020E0502030308020204" pitchFamily="34" charset="0"/>
                        </a:rPr>
                        <a:t>LoRa low-power networking</a:t>
                      </a:r>
                      <a:r>
                        <a:rPr lang="en-US" sz="1500" dirty="0">
                          <a:latin typeface="Maiandra GD" panose="020E0502030308020204" pitchFamily="34" charset="0"/>
                        </a:rPr>
                        <a:t>. Designed for long-term field monitoring with minimal energy usage.</a:t>
                      </a:r>
                    </a:p>
                  </a:txBody>
                  <a:tcPr marL="68580" marR="68580" marT="0" marB="0"/>
                </a:tc>
                <a:tc>
                  <a:txBody>
                    <a:bodyPr/>
                    <a:lstStyle/>
                    <a:p>
                      <a:pPr algn="just"/>
                      <a:r>
                        <a:rPr lang="en-US" sz="1500" dirty="0">
                          <a:latin typeface="Maiandra GD" panose="020E0502030308020204" pitchFamily="34" charset="0"/>
                        </a:rPr>
                        <a:t>Since the experiments were done mainly on tobacco plants, the findings may not apply to other crops. Signal transmission can vary with soil type, moisture, and conductivity, reducing accuracy in different environments. The system also requires fixed electrodes, which may not suit all plant structures or remain stable as plants grow. The PMFC power source may degrade over time or perform differently with changing soil microbes. </a:t>
                      </a:r>
                    </a:p>
                  </a:txBody>
                  <a:tcPr/>
                </a:tc>
                <a:extLst>
                  <a:ext uri="{0D108BD9-81ED-4DB2-BD59-A6C34878D82A}">
                    <a16:rowId xmlns:a16="http://schemas.microsoft.com/office/drawing/2014/main" val="1006575779"/>
                  </a:ext>
                </a:extLst>
              </a:tr>
              <a:tr h="1674461">
                <a:tc>
                  <a:txBody>
                    <a:bodyPr/>
                    <a:lstStyle/>
                    <a:p>
                      <a:pPr algn="just"/>
                      <a:r>
                        <a:rPr lang="en-IN" sz="1500" dirty="0">
                          <a:latin typeface="Maiandra GD" panose="020E0502030308020204" pitchFamily="34" charset="0"/>
                        </a:rPr>
                        <a:t>2.</a:t>
                      </a:r>
                    </a:p>
                  </a:txBody>
                  <a:tcPr/>
                </a:tc>
                <a:tc>
                  <a:txBody>
                    <a:bodyPr/>
                    <a:lstStyle/>
                    <a:p>
                      <a:pPr algn="l"/>
                      <a:r>
                        <a:rPr lang="en-US" sz="1500" dirty="0">
                          <a:latin typeface="Maiandra GD" panose="020E0502030308020204" pitchFamily="34" charset="0"/>
                        </a:rPr>
                        <a:t>Development of Sustainable Hybrid Microbial Fuel Cell (MFC) System from Living Plants for Low-Power Field Electronic Devices</a:t>
                      </a:r>
                      <a:endParaRPr lang="en-IN" sz="1500" dirty="0">
                        <a:latin typeface="Maiandra GD" panose="020E0502030308020204" pitchFamily="34" charset="0"/>
                        <a:cs typeface="Times New Roman" panose="02020603050405020304" pitchFamily="18" charset="0"/>
                      </a:endParaRPr>
                    </a:p>
                  </a:txBody>
                  <a:tcPr/>
                </a:tc>
                <a:tc>
                  <a:txBody>
                    <a:bodyPr/>
                    <a:lstStyle/>
                    <a:p>
                      <a:pPr algn="just"/>
                      <a:r>
                        <a:rPr lang="en-IN" sz="1500" dirty="0">
                          <a:latin typeface="Maiandra GD" panose="020E0502030308020204" pitchFamily="34" charset="0"/>
                        </a:rPr>
                        <a:t>Matthew Lo</a:t>
                      </a:r>
                    </a:p>
                    <a:p>
                      <a:pPr algn="just"/>
                      <a:r>
                        <a:rPr lang="nl-NL" sz="1500" dirty="0">
                          <a:latin typeface="Maiandra GD" panose="020E0502030308020204" pitchFamily="34" charset="0"/>
                        </a:rPr>
                        <a:t>2023 IEEE Green Technologies Conference</a:t>
                      </a:r>
                      <a:endParaRPr lang="en-IN" sz="1500" dirty="0">
                        <a:latin typeface="Maiandra GD" panose="020E0502030308020204" pitchFamily="34" charset="0"/>
                        <a:cs typeface="Times New Roman" panose="02020603050405020304" pitchFamily="18" charset="0"/>
                      </a:endParaRPr>
                    </a:p>
                  </a:txBody>
                  <a:tcPr/>
                </a:tc>
                <a:tc>
                  <a:txBody>
                    <a:bodyPr/>
                    <a:lstStyle/>
                    <a:p>
                      <a:pPr algn="just"/>
                      <a:r>
                        <a:rPr lang="en-IN" sz="1500" dirty="0">
                          <a:latin typeface="Maiandra GD" panose="020E0502030308020204" pitchFamily="34" charset="0"/>
                        </a:rPr>
                        <a:t>Designed a </a:t>
                      </a:r>
                      <a:r>
                        <a:rPr lang="en-IN" sz="1500" b="1" dirty="0">
                          <a:latin typeface="Maiandra GD" panose="020E0502030308020204" pitchFamily="34" charset="0"/>
                        </a:rPr>
                        <a:t>hybrid microbial fuel cell</a:t>
                      </a:r>
                      <a:r>
                        <a:rPr lang="en-IN" sz="1500" dirty="0">
                          <a:latin typeface="Maiandra GD" panose="020E0502030308020204" pitchFamily="34" charset="0"/>
                        </a:rPr>
                        <a:t> integrating soil-MFC and plant-MFC systems. Tested multiple soils and plants including </a:t>
                      </a:r>
                      <a:r>
                        <a:rPr lang="en-IN" sz="1500" b="1" dirty="0">
                          <a:latin typeface="Maiandra GD" panose="020E0502030308020204" pitchFamily="34" charset="0"/>
                        </a:rPr>
                        <a:t>Lemongrass, Tomato, and Spider Plant</a:t>
                      </a:r>
                      <a:r>
                        <a:rPr lang="en-IN" sz="1500" dirty="0">
                          <a:latin typeface="Maiandra GD" panose="020E0502030308020204" pitchFamily="34" charset="0"/>
                        </a:rPr>
                        <a:t>. Used </a:t>
                      </a:r>
                      <a:r>
                        <a:rPr lang="en-IN" sz="1500" b="1" dirty="0">
                          <a:latin typeface="Maiandra GD" panose="020E0502030308020204" pitchFamily="34" charset="0"/>
                        </a:rPr>
                        <a:t>copper spiral and zinc mesh electrodes</a:t>
                      </a:r>
                      <a:r>
                        <a:rPr lang="en-IN" sz="1500" dirty="0">
                          <a:latin typeface="Maiandra GD" panose="020E0502030308020204" pitchFamily="34" charset="0"/>
                        </a:rPr>
                        <a:t> to improve conductivity. Monitored voltage, current, and microbial activity across configurations. Evaluated performance stability under environmental fluctuations.</a:t>
                      </a:r>
                      <a:endParaRPr lang="en-US" sz="1500" dirty="0">
                        <a:latin typeface="Maiandra GD" panose="020E0502030308020204" pitchFamily="34" charset="0"/>
                      </a:endParaRPr>
                    </a:p>
                  </a:txBody>
                  <a:tcPr/>
                </a:tc>
                <a:tc>
                  <a:txBody>
                    <a:bodyPr/>
                    <a:lstStyle/>
                    <a:p>
                      <a:pPr algn="just"/>
                      <a:r>
                        <a:rPr lang="en-US" sz="1500" dirty="0">
                          <a:latin typeface="Maiandra GD" panose="020E0502030308020204" pitchFamily="34" charset="0"/>
                        </a:rPr>
                        <a:t>The system faces key limitations. Its performance depended heavily on soil type, with river soil generating the lowest power and reducing broad applicability. Output was highly sensitive to environmental changes such as temperature and fertilizer, leading to inconsistent results. Despite performance improvements, the overall power density remained in the µW/cm² range.</a:t>
                      </a:r>
                    </a:p>
                  </a:txBody>
                  <a:tcPr/>
                </a:tc>
                <a:extLst>
                  <a:ext uri="{0D108BD9-81ED-4DB2-BD59-A6C34878D82A}">
                    <a16:rowId xmlns:a16="http://schemas.microsoft.com/office/drawing/2014/main" val="3852631190"/>
                  </a:ext>
                </a:extLst>
              </a:tr>
            </a:tbl>
          </a:graphicData>
        </a:graphic>
      </p:graphicFrame>
    </p:spTree>
    <p:extLst>
      <p:ext uri="{BB962C8B-B14F-4D97-AF65-F5344CB8AC3E}">
        <p14:creationId xmlns:p14="http://schemas.microsoft.com/office/powerpoint/2010/main" val="36521806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F8B44-08DA-B0DD-E6AE-ABB3515AAE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69C06-3C76-87CD-27E9-2577FBBA4435}"/>
              </a:ext>
            </a:extLst>
          </p:cNvPr>
          <p:cNvSpPr>
            <a:spLocks noGrp="1"/>
          </p:cNvSpPr>
          <p:nvPr>
            <p:ph type="title"/>
          </p:nvPr>
        </p:nvSpPr>
        <p:spPr/>
        <p:txBody>
          <a:bodyPr/>
          <a:lstStyle/>
          <a:p>
            <a:r>
              <a:rPr lang="en-IN" dirty="0"/>
              <a:t>Literature Survey</a:t>
            </a:r>
          </a:p>
        </p:txBody>
      </p:sp>
      <p:sp>
        <p:nvSpPr>
          <p:cNvPr id="4" name="Slide Number Placeholder 3">
            <a:extLst>
              <a:ext uri="{FF2B5EF4-FFF2-40B4-BE49-F238E27FC236}">
                <a16:creationId xmlns:a16="http://schemas.microsoft.com/office/drawing/2014/main" id="{44DBE9E2-5A68-8936-D4AC-AF1B1072C87F}"/>
              </a:ext>
            </a:extLst>
          </p:cNvPr>
          <p:cNvSpPr>
            <a:spLocks noGrp="1"/>
          </p:cNvSpPr>
          <p:nvPr>
            <p:ph type="sldNum" sz="quarter" idx="12"/>
          </p:nvPr>
        </p:nvSpPr>
        <p:spPr/>
        <p:txBody>
          <a:bodyPr/>
          <a:lstStyle/>
          <a:p>
            <a:fld id="{EEC824EF-4F39-42CE-B61A-92299691A099}" type="slidenum">
              <a:rPr lang="en-IN" smtClean="0"/>
              <a:t>6</a:t>
            </a:fld>
            <a:endParaRPr lang="en-IN"/>
          </a:p>
        </p:txBody>
      </p:sp>
      <p:sp>
        <p:nvSpPr>
          <p:cNvPr id="5" name="Footer Placeholder 4">
            <a:extLst>
              <a:ext uri="{FF2B5EF4-FFF2-40B4-BE49-F238E27FC236}">
                <a16:creationId xmlns:a16="http://schemas.microsoft.com/office/drawing/2014/main" id="{42C6034F-DDBF-0C1E-4313-EEF9976AC0B0}"/>
              </a:ext>
            </a:extLst>
          </p:cNvPr>
          <p:cNvSpPr>
            <a:spLocks noGrp="1"/>
          </p:cNvSpPr>
          <p:nvPr>
            <p:ph type="ftr" sz="quarter" idx="3"/>
          </p:nvPr>
        </p:nvSpPr>
        <p:spPr/>
        <p:txBody>
          <a:bodyPr/>
          <a:lstStyle/>
          <a:p>
            <a:r>
              <a:rPr lang="en-IN"/>
              <a:t>Department of Electronics &amp; Instrumentation Engineering, VNRVJIET</a:t>
            </a:r>
            <a:endParaRPr lang="en-IN" dirty="0"/>
          </a:p>
        </p:txBody>
      </p:sp>
      <p:graphicFrame>
        <p:nvGraphicFramePr>
          <p:cNvPr id="6" name="Table 10">
            <a:extLst>
              <a:ext uri="{FF2B5EF4-FFF2-40B4-BE49-F238E27FC236}">
                <a16:creationId xmlns:a16="http://schemas.microsoft.com/office/drawing/2014/main" id="{BA7FE799-B345-3B04-03A0-7A84420A8EEC}"/>
              </a:ext>
            </a:extLst>
          </p:cNvPr>
          <p:cNvGraphicFramePr>
            <a:graphicFrameLocks noGrp="1"/>
          </p:cNvGraphicFramePr>
          <p:nvPr>
            <p:ph idx="1"/>
            <p:extLst>
              <p:ext uri="{D42A27DB-BD31-4B8C-83A1-F6EECF244321}">
                <p14:modId xmlns:p14="http://schemas.microsoft.com/office/powerpoint/2010/main" val="2148394377"/>
              </p:ext>
            </p:extLst>
          </p:nvPr>
        </p:nvGraphicFramePr>
        <p:xfrm>
          <a:off x="-2" y="1420247"/>
          <a:ext cx="12191999" cy="5616304"/>
        </p:xfrm>
        <a:graphic>
          <a:graphicData uri="http://schemas.openxmlformats.org/drawingml/2006/table">
            <a:tbl>
              <a:tblPr firstRow="1" bandRow="1">
                <a:tableStyleId>{5C22544A-7EE6-4342-B048-85BDC9FD1C3A}</a:tableStyleId>
              </a:tblPr>
              <a:tblGrid>
                <a:gridCol w="661296">
                  <a:extLst>
                    <a:ext uri="{9D8B030D-6E8A-4147-A177-3AD203B41FA5}">
                      <a16:colId xmlns:a16="http://schemas.microsoft.com/office/drawing/2014/main" val="1116623261"/>
                    </a:ext>
                  </a:extLst>
                </a:gridCol>
                <a:gridCol w="2178891">
                  <a:extLst>
                    <a:ext uri="{9D8B030D-6E8A-4147-A177-3AD203B41FA5}">
                      <a16:colId xmlns:a16="http://schemas.microsoft.com/office/drawing/2014/main" val="4107597996"/>
                    </a:ext>
                  </a:extLst>
                </a:gridCol>
                <a:gridCol w="2317621">
                  <a:extLst>
                    <a:ext uri="{9D8B030D-6E8A-4147-A177-3AD203B41FA5}">
                      <a16:colId xmlns:a16="http://schemas.microsoft.com/office/drawing/2014/main" val="577272133"/>
                    </a:ext>
                  </a:extLst>
                </a:gridCol>
                <a:gridCol w="3443785">
                  <a:extLst>
                    <a:ext uri="{9D8B030D-6E8A-4147-A177-3AD203B41FA5}">
                      <a16:colId xmlns:a16="http://schemas.microsoft.com/office/drawing/2014/main" val="1362283944"/>
                    </a:ext>
                  </a:extLst>
                </a:gridCol>
                <a:gridCol w="3590406">
                  <a:extLst>
                    <a:ext uri="{9D8B030D-6E8A-4147-A177-3AD203B41FA5}">
                      <a16:colId xmlns:a16="http://schemas.microsoft.com/office/drawing/2014/main" val="2279739983"/>
                    </a:ext>
                  </a:extLst>
                </a:gridCol>
              </a:tblGrid>
              <a:tr h="329248">
                <a:tc>
                  <a:txBody>
                    <a:bodyPr/>
                    <a:lstStyle/>
                    <a:p>
                      <a:endParaRPr lang="en-IN" sz="1550" dirty="0">
                        <a:ln>
                          <a:solidFill>
                            <a:schemeClr val="tx1"/>
                          </a:solidFill>
                        </a:ln>
                        <a:solidFill>
                          <a:schemeClr val="bg1"/>
                        </a:solidFill>
                        <a:latin typeface="Maiandra GD" panose="020E0502030308020204" pitchFamily="34" charset="0"/>
                      </a:endParaRPr>
                    </a:p>
                  </a:txBody>
                  <a:tcPr/>
                </a:tc>
                <a:tc>
                  <a:txBody>
                    <a:bodyPr/>
                    <a:lstStyle/>
                    <a:p>
                      <a:r>
                        <a:rPr lang="en-US" sz="1550" dirty="0">
                          <a:latin typeface="Maiandra GD" panose="020E0502030308020204" pitchFamily="34" charset="0"/>
                        </a:rPr>
                        <a:t>Title of the paper</a:t>
                      </a:r>
                      <a:endParaRPr lang="en-IN" sz="1550" dirty="0">
                        <a:latin typeface="Maiandra GD" panose="020E0502030308020204" pitchFamily="34" charset="0"/>
                      </a:endParaRPr>
                    </a:p>
                  </a:txBody>
                  <a:tcPr/>
                </a:tc>
                <a:tc>
                  <a:txBody>
                    <a:bodyPr/>
                    <a:lstStyle/>
                    <a:p>
                      <a:pPr algn="l"/>
                      <a:r>
                        <a:rPr lang="en-US" sz="1550" dirty="0">
                          <a:latin typeface="Maiandra GD" panose="020E0502030308020204" pitchFamily="34" charset="0"/>
                        </a:rPr>
                        <a:t>Author Name &amp; Journal</a:t>
                      </a:r>
                      <a:endParaRPr lang="en-IN" sz="1550" dirty="0">
                        <a:latin typeface="Maiandra GD" panose="020E0502030308020204" pitchFamily="34" charset="0"/>
                      </a:endParaRPr>
                    </a:p>
                  </a:txBody>
                  <a:tcPr/>
                </a:tc>
                <a:tc>
                  <a:txBody>
                    <a:bodyPr/>
                    <a:lstStyle/>
                    <a:p>
                      <a:r>
                        <a:rPr lang="en-US" sz="1550">
                          <a:latin typeface="Maiandra GD" panose="020E0502030308020204" pitchFamily="34" charset="0"/>
                        </a:rPr>
                        <a:t>Methodology</a:t>
                      </a:r>
                      <a:endParaRPr lang="en-IN" sz="1550" dirty="0">
                        <a:latin typeface="Maiandra GD" panose="020E0502030308020204" pitchFamily="34" charset="0"/>
                      </a:endParaRPr>
                    </a:p>
                  </a:txBody>
                  <a:tcPr/>
                </a:tc>
                <a:tc>
                  <a:txBody>
                    <a:bodyPr/>
                    <a:lstStyle/>
                    <a:p>
                      <a:r>
                        <a:rPr lang="en-US" sz="1550" dirty="0">
                          <a:latin typeface="Maiandra GD" panose="020E0502030308020204" pitchFamily="34" charset="0"/>
                        </a:rPr>
                        <a:t>Limitations</a:t>
                      </a:r>
                      <a:endParaRPr lang="en-IN" sz="1550" dirty="0">
                        <a:latin typeface="Maiandra GD" panose="020E0502030308020204" pitchFamily="34" charset="0"/>
                      </a:endParaRPr>
                    </a:p>
                  </a:txBody>
                  <a:tcPr/>
                </a:tc>
                <a:extLst>
                  <a:ext uri="{0D108BD9-81ED-4DB2-BD59-A6C34878D82A}">
                    <a16:rowId xmlns:a16="http://schemas.microsoft.com/office/drawing/2014/main" val="3870849205"/>
                  </a:ext>
                </a:extLst>
              </a:tr>
              <a:tr h="2445839">
                <a:tc>
                  <a:txBody>
                    <a:bodyPr/>
                    <a:lstStyle/>
                    <a:p>
                      <a:r>
                        <a:rPr lang="en-IN" sz="1550" dirty="0">
                          <a:latin typeface="Maiandra GD" panose="020E0502030308020204" pitchFamily="34" charset="0"/>
                        </a:rPr>
                        <a:t>3.</a:t>
                      </a:r>
                    </a:p>
                  </a:txBody>
                  <a:tcPr/>
                </a:tc>
                <a:tc>
                  <a:txBody>
                    <a:bodyPr/>
                    <a:lstStyle/>
                    <a:p>
                      <a:r>
                        <a:rPr lang="en-US" sz="1550" dirty="0">
                          <a:latin typeface="Maiandra GD" panose="020E0502030308020204" pitchFamily="34" charset="0"/>
                        </a:rPr>
                        <a:t>Plant Microbial Fuel Cells: A Comprehensive Review of Influential Factors, Innovative Configurations, Diverse Applications, Persistent Challenges, and Promising Prospects</a:t>
                      </a:r>
                      <a:endParaRPr lang="en-IN" sz="1550" dirty="0">
                        <a:latin typeface="Maiandra GD" panose="020E0502030308020204" pitchFamily="34" charset="0"/>
                      </a:endParaRPr>
                    </a:p>
                  </a:txBody>
                  <a:tcPr/>
                </a:tc>
                <a:tc>
                  <a:txBody>
                    <a:bodyPr/>
                    <a:lstStyle/>
                    <a:p>
                      <a:pPr algn="l"/>
                      <a:r>
                        <a:rPr lang="en-US" sz="1500" dirty="0">
                          <a:latin typeface="Maiandra GD" panose="020E0502030308020204" pitchFamily="34" charset="0"/>
                        </a:rPr>
                        <a:t>Peng Lean Chong, Joon Huang Chuah, Chee-Onn Chow, and Poh Kiat Ng</a:t>
                      </a:r>
                    </a:p>
                    <a:p>
                      <a:pPr algn="l"/>
                      <a:endParaRPr lang="en-US" sz="1500" dirty="0">
                        <a:latin typeface="Maiandra GD" panose="020E0502030308020204" pitchFamily="34" charset="0"/>
                      </a:endParaRPr>
                    </a:p>
                    <a:p>
                      <a:pPr algn="l"/>
                      <a:r>
                        <a:rPr lang="en-US" sz="1500" dirty="0">
                          <a:latin typeface="Maiandra GD" panose="020E0502030308020204" pitchFamily="34" charset="0"/>
                        </a:rPr>
                        <a:t>Elsevier – Journal of Cleaner Production / Renewable Energy Review</a:t>
                      </a:r>
                      <a:endParaRPr lang="en-IN" sz="1500" b="0" i="0" kern="1200" dirty="0">
                        <a:solidFill>
                          <a:schemeClr val="dk1"/>
                        </a:solidFill>
                        <a:effectLst/>
                        <a:latin typeface="Maiandra GD" panose="020E0502030308020204" pitchFamily="34" charset="0"/>
                        <a:ea typeface="+mn-ea"/>
                        <a:cs typeface="+mn-cs"/>
                      </a:endParaRPr>
                    </a:p>
                  </a:txBody>
                  <a:tcPr/>
                </a:tc>
                <a:tc>
                  <a:txBody>
                    <a:bodyPr/>
                    <a:lstStyle/>
                    <a:p>
                      <a:pPr algn="just"/>
                      <a:r>
                        <a:rPr lang="en-US" sz="1550" dirty="0">
                          <a:latin typeface="Maiandra GD" panose="020E0502030308020204" pitchFamily="34" charset="0"/>
                        </a:rPr>
                        <a:t>Provided a detailed review of </a:t>
                      </a:r>
                      <a:r>
                        <a:rPr lang="en-US" sz="1550" b="1" dirty="0">
                          <a:latin typeface="Maiandra GD" panose="020E0502030308020204" pitchFamily="34" charset="0"/>
                        </a:rPr>
                        <a:t>PMFC design, operation, and influencing factors</a:t>
                      </a:r>
                      <a:r>
                        <a:rPr lang="en-US" sz="1550" dirty="0">
                          <a:latin typeface="Maiandra GD" panose="020E0502030308020204" pitchFamily="34" charset="0"/>
                        </a:rPr>
                        <a:t>. Compared </a:t>
                      </a:r>
                      <a:r>
                        <a:rPr lang="en-US" sz="1550" b="1" dirty="0">
                          <a:latin typeface="Maiandra GD" panose="020E0502030308020204" pitchFamily="34" charset="0"/>
                        </a:rPr>
                        <a:t>tubular, flat-plate, and wetland configurations</a:t>
                      </a:r>
                      <a:r>
                        <a:rPr lang="en-US" sz="1550" dirty="0">
                          <a:latin typeface="Maiandra GD" panose="020E0502030308020204" pitchFamily="34" charset="0"/>
                        </a:rPr>
                        <a:t>. Analyzed the effect of </a:t>
                      </a:r>
                      <a:r>
                        <a:rPr lang="en-US" sz="1550" b="1" dirty="0">
                          <a:latin typeface="Maiandra GD" panose="020E0502030308020204" pitchFamily="34" charset="0"/>
                        </a:rPr>
                        <a:t>plant species, soil types, and microbial ecosystems</a:t>
                      </a:r>
                      <a:r>
                        <a:rPr lang="en-US" sz="1550" dirty="0">
                          <a:latin typeface="Maiandra GD" panose="020E0502030308020204" pitchFamily="34" charset="0"/>
                        </a:rPr>
                        <a:t>. Emphasized performance improvement through material optimization. Discussed challenges like </a:t>
                      </a:r>
                      <a:r>
                        <a:rPr lang="en-US" sz="1550" b="1" dirty="0">
                          <a:latin typeface="Maiandra GD" panose="020E0502030308020204" pitchFamily="34" charset="0"/>
                        </a:rPr>
                        <a:t>scalability and power density limits</a:t>
                      </a:r>
                      <a:r>
                        <a:rPr lang="en-US" sz="1550" dirty="0">
                          <a:latin typeface="Maiandra GD" panose="020E0502030308020204" pitchFamily="34" charset="0"/>
                        </a:rPr>
                        <a:t>.</a:t>
                      </a:r>
                    </a:p>
                  </a:txBody>
                  <a:tcPr marL="68580" marR="68580" marT="0" marB="0"/>
                </a:tc>
                <a:tc>
                  <a:txBody>
                    <a:bodyPr/>
                    <a:lstStyle/>
                    <a:p>
                      <a:pPr algn="just"/>
                      <a:r>
                        <a:rPr lang="en-US" sz="1500" dirty="0">
                          <a:latin typeface="Maiandra GD" panose="020E0502030308020204" pitchFamily="34" charset="0"/>
                        </a:rPr>
                        <a:t>The reported power outputs vary greatly as the 679 </a:t>
                      </a:r>
                      <a:r>
                        <a:rPr lang="en-US" sz="1500" dirty="0" err="1">
                          <a:latin typeface="Maiandra GD" panose="020E0502030308020204" pitchFamily="34" charset="0"/>
                        </a:rPr>
                        <a:t>mW</a:t>
                      </a:r>
                      <a:r>
                        <a:rPr lang="en-US" sz="1500" dirty="0">
                          <a:latin typeface="Maiandra GD" panose="020E0502030308020204" pitchFamily="34" charset="0"/>
                        </a:rPr>
                        <a:t>/m² maximum which depend on specific setups and may not be achievable in real field conditions. Scalability challenges are discussed, no practical engineering solutions are proposed for PMFC deployment. Much of the referenced data comes from controlled laboratory conditions rather than agricultural soils, limiting real-world relevance.</a:t>
                      </a:r>
                    </a:p>
                  </a:txBody>
                  <a:tcPr/>
                </a:tc>
                <a:extLst>
                  <a:ext uri="{0D108BD9-81ED-4DB2-BD59-A6C34878D82A}">
                    <a16:rowId xmlns:a16="http://schemas.microsoft.com/office/drawing/2014/main" val="1006575779"/>
                  </a:ext>
                </a:extLst>
              </a:tr>
              <a:tr h="2681016">
                <a:tc>
                  <a:txBody>
                    <a:bodyPr/>
                    <a:lstStyle/>
                    <a:p>
                      <a:r>
                        <a:rPr lang="en-IN" sz="1550" dirty="0">
                          <a:latin typeface="Maiandra GD" panose="020E0502030308020204" pitchFamily="34" charset="0"/>
                        </a:rPr>
                        <a:t>4. </a:t>
                      </a:r>
                    </a:p>
                  </a:txBody>
                  <a:tcPr/>
                </a:tc>
                <a:tc>
                  <a:txBody>
                    <a:bodyPr/>
                    <a:lstStyle/>
                    <a:p>
                      <a:r>
                        <a:rPr lang="en-US" sz="1550" dirty="0">
                          <a:latin typeface="Maiandra GD" panose="020E0502030308020204" pitchFamily="34" charset="0"/>
                        </a:rPr>
                        <a:t>Plant Microbial Fuel Cells: A Promising Biosystems Engineering</a:t>
                      </a:r>
                      <a:endParaRPr lang="en-IN" sz="1550" dirty="0">
                        <a:latin typeface="Maiandra GD" panose="020E0502030308020204" pitchFamily="34" charset="0"/>
                        <a:cs typeface="Times New Roman" panose="02020603050405020304" pitchFamily="18" charset="0"/>
                      </a:endParaRPr>
                    </a:p>
                  </a:txBody>
                  <a:tcPr/>
                </a:tc>
                <a:tc>
                  <a:txBody>
                    <a:bodyPr/>
                    <a:lstStyle/>
                    <a:p>
                      <a:r>
                        <a:rPr lang="en-US" sz="1500" dirty="0" err="1">
                          <a:latin typeface="Maiandra GD" panose="020E0502030308020204" pitchFamily="34" charset="0"/>
                        </a:rPr>
                        <a:t>Rachnarin</a:t>
                      </a:r>
                      <a:r>
                        <a:rPr lang="en-US" sz="1500" dirty="0">
                          <a:latin typeface="Maiandra GD" panose="020E0502030308020204" pitchFamily="34" charset="0"/>
                        </a:rPr>
                        <a:t> </a:t>
                      </a:r>
                      <a:r>
                        <a:rPr lang="en-US" sz="1500" dirty="0" err="1">
                          <a:latin typeface="Maiandra GD" panose="020E0502030308020204" pitchFamily="34" charset="0"/>
                        </a:rPr>
                        <a:t>Nitisoravut</a:t>
                      </a:r>
                      <a:r>
                        <a:rPr lang="en-US" sz="1500" dirty="0">
                          <a:latin typeface="Maiandra GD" panose="020E0502030308020204" pitchFamily="34" charset="0"/>
                        </a:rPr>
                        <a:t> and Roshan Regmi</a:t>
                      </a:r>
                    </a:p>
                    <a:p>
                      <a:endParaRPr lang="en-US" sz="1500" dirty="0">
                        <a:latin typeface="Maiandra GD" panose="020E0502030308020204" pitchFamily="34" charset="0"/>
                      </a:endParaRPr>
                    </a:p>
                    <a:p>
                      <a:r>
                        <a:rPr lang="en-US" sz="1500" b="1" dirty="0">
                          <a:latin typeface="Maiandra GD" panose="020E0502030308020204" pitchFamily="34" charset="0"/>
                        </a:rPr>
                        <a:t>Renewable and Sustainable Energy Reviews (Elsevier)</a:t>
                      </a:r>
                      <a:br>
                        <a:rPr lang="en-US" sz="1500" dirty="0">
                          <a:latin typeface="Maiandra GD" panose="020E0502030308020204" pitchFamily="34" charset="0"/>
                        </a:rPr>
                      </a:br>
                      <a:r>
                        <a:rPr lang="en-US" sz="1500" dirty="0">
                          <a:latin typeface="Maiandra GD" panose="020E0502030308020204" pitchFamily="34" charset="0"/>
                        </a:rPr>
                        <a:t>Volume 76, </a:t>
                      </a:r>
                      <a:endParaRPr lang="en-IN" sz="1500" dirty="0">
                        <a:latin typeface="Maiandra GD" panose="020E0502030308020204" pitchFamily="34" charset="0"/>
                        <a:cs typeface="Times New Roman" panose="02020603050405020304" pitchFamily="18" charset="0"/>
                      </a:endParaRPr>
                    </a:p>
                  </a:txBody>
                  <a:tcPr/>
                </a:tc>
                <a:tc>
                  <a:txBody>
                    <a:bodyPr/>
                    <a:lstStyle/>
                    <a:p>
                      <a:pPr algn="just"/>
                      <a:r>
                        <a:rPr lang="en-IN" sz="1550" dirty="0">
                          <a:latin typeface="Maiandra GD" panose="020E0502030308020204" pitchFamily="34" charset="0"/>
                        </a:rPr>
                        <a:t>Explored PMFCs as </a:t>
                      </a:r>
                      <a:r>
                        <a:rPr lang="en-IN" sz="1550" b="1" dirty="0">
                          <a:latin typeface="Maiandra GD" panose="020E0502030308020204" pitchFamily="34" charset="0"/>
                        </a:rPr>
                        <a:t>biosystems combining plants, microbes, and soil</a:t>
                      </a:r>
                      <a:r>
                        <a:rPr lang="en-IN" sz="1550" dirty="0">
                          <a:latin typeface="Maiandra GD" panose="020E0502030308020204" pitchFamily="34" charset="0"/>
                        </a:rPr>
                        <a:t> for bioelectricity. Investigated </a:t>
                      </a:r>
                      <a:r>
                        <a:rPr lang="en-IN" sz="1550" b="1" dirty="0">
                          <a:latin typeface="Maiandra GD" panose="020E0502030308020204" pitchFamily="34" charset="0"/>
                        </a:rPr>
                        <a:t>rhizodeposition and electron transfer</a:t>
                      </a:r>
                      <a:r>
                        <a:rPr lang="en-IN" sz="1550" dirty="0">
                          <a:latin typeface="Maiandra GD" panose="020E0502030308020204" pitchFamily="34" charset="0"/>
                        </a:rPr>
                        <a:t> mechanisms. Compared </a:t>
                      </a:r>
                      <a:r>
                        <a:rPr lang="en-IN" sz="1550" b="1" dirty="0">
                          <a:latin typeface="Maiandra GD" panose="020E0502030308020204" pitchFamily="34" charset="0"/>
                        </a:rPr>
                        <a:t>C3, C4, and CAM</a:t>
                      </a:r>
                      <a:r>
                        <a:rPr lang="en-IN" sz="1550" dirty="0">
                          <a:latin typeface="Maiandra GD" panose="020E0502030308020204" pitchFamily="34" charset="0"/>
                        </a:rPr>
                        <a:t> plants for energy efficiency. Studied plant–microbe interactions and root exudate influence. Evaluated PMFC’s role in energy and biosensing.</a:t>
                      </a:r>
                      <a:endParaRPr lang="en-US" sz="1550" dirty="0">
                        <a:latin typeface="Maiandra GD" panose="020E0502030308020204" pitchFamily="34" charset="0"/>
                      </a:endParaRP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500" dirty="0">
                          <a:latin typeface="Maiandra GD" panose="020E0502030308020204" pitchFamily="34" charset="0"/>
                        </a:rPr>
                        <a:t>The studies it compares lack experimental uniformity, using different substrates, plant ages, electrode materials, and environmental conditions, which makes direct performance comparison difficult. Research on economically important crops like vegetables and fruits is limited because of their short life cycles and stress sensitivity, reducing practical agricultural relevance.</a:t>
                      </a:r>
                    </a:p>
                  </a:txBody>
                  <a:tcPr/>
                </a:tc>
                <a:extLst>
                  <a:ext uri="{0D108BD9-81ED-4DB2-BD59-A6C34878D82A}">
                    <a16:rowId xmlns:a16="http://schemas.microsoft.com/office/drawing/2014/main" val="3852631190"/>
                  </a:ext>
                </a:extLst>
              </a:tr>
            </a:tbl>
          </a:graphicData>
        </a:graphic>
      </p:graphicFrame>
    </p:spTree>
    <p:extLst>
      <p:ext uri="{BB962C8B-B14F-4D97-AF65-F5344CB8AC3E}">
        <p14:creationId xmlns:p14="http://schemas.microsoft.com/office/powerpoint/2010/main" val="10137019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Problem Identification</a:t>
            </a:r>
          </a:p>
        </p:txBody>
      </p:sp>
      <p:sp>
        <p:nvSpPr>
          <p:cNvPr id="4" name="Slide Number Placeholder 3"/>
          <p:cNvSpPr>
            <a:spLocks noGrp="1"/>
          </p:cNvSpPr>
          <p:nvPr>
            <p:ph type="sldNum" sz="quarter" idx="12"/>
          </p:nvPr>
        </p:nvSpPr>
        <p:spPr/>
        <p:txBody>
          <a:bodyPr/>
          <a:lstStyle/>
          <a:p>
            <a:fld id="{EEC824EF-4F39-42CE-B61A-92299691A099}" type="slidenum">
              <a:rPr lang="en-IN" smtClean="0"/>
              <a:t>7</a:t>
            </a:fld>
            <a:endParaRPr lang="en-IN"/>
          </a:p>
        </p:txBody>
      </p:sp>
      <p:sp>
        <p:nvSpPr>
          <p:cNvPr id="5" name="Footer Placeholder 4"/>
          <p:cNvSpPr>
            <a:spLocks noGrp="1"/>
          </p:cNvSpPr>
          <p:nvPr>
            <p:ph type="ftr" sz="quarter" idx="3"/>
          </p:nvPr>
        </p:nvSpPr>
        <p:spPr/>
        <p:txBody>
          <a:bodyPr/>
          <a:lstStyle/>
          <a:p>
            <a:r>
              <a:rPr lang="en-IN"/>
              <a:t>Department of Electronics &amp; Instrumentation Engineering, VNRVJIET</a:t>
            </a:r>
            <a:endParaRPr lang="en-IN" dirty="0"/>
          </a:p>
        </p:txBody>
      </p:sp>
      <p:sp>
        <p:nvSpPr>
          <p:cNvPr id="6" name="Rectangle 1">
            <a:extLst>
              <a:ext uri="{FF2B5EF4-FFF2-40B4-BE49-F238E27FC236}">
                <a16:creationId xmlns:a16="http://schemas.microsoft.com/office/drawing/2014/main" id="{3111461F-A5EA-51F8-3029-55AA8CB4464D}"/>
              </a:ext>
            </a:extLst>
          </p:cNvPr>
          <p:cNvSpPr>
            <a:spLocks noGrp="1" noChangeArrowheads="1"/>
          </p:cNvSpPr>
          <p:nvPr>
            <p:ph idx="1"/>
          </p:nvPr>
        </p:nvSpPr>
        <p:spPr bwMode="auto">
          <a:xfrm>
            <a:off x="158400" y="1436405"/>
            <a:ext cx="11811600"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Excessive water usage in agriculture:</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Farmers often rely on manual or time-based irrigation systems, leading to </a:t>
            </a:r>
            <a:r>
              <a:rPr kumimoji="0" lang="en-US" altLang="en-US" sz="1800" b="1" i="0" u="none" strike="noStrike" cap="none" normalizeH="0" baseline="0" dirty="0">
                <a:ln>
                  <a:noFill/>
                </a:ln>
                <a:solidFill>
                  <a:schemeClr val="tx1"/>
                </a:solidFill>
                <a:effectLst/>
              </a:rPr>
              <a:t>overwatering or under-watering</a:t>
            </a:r>
            <a:r>
              <a:rPr kumimoji="0" lang="en-US" altLang="en-US" sz="1800" b="0" i="0" u="none" strike="noStrike" cap="none" normalizeH="0" baseline="0" dirty="0">
                <a:ln>
                  <a:noFill/>
                </a:ln>
                <a:solidFill>
                  <a:schemeClr val="tx1"/>
                </a:solidFill>
                <a:effectLst/>
              </a:rPr>
              <a:t>, which wastes water and reduces crop yield.</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Lack of direct plant-based stress monitoring:</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Most existing systems measure </a:t>
            </a:r>
            <a:r>
              <a:rPr kumimoji="0" lang="en-US" altLang="en-US" sz="1800" b="1" i="0" u="none" strike="noStrike" cap="none" normalizeH="0" baseline="0" dirty="0">
                <a:ln>
                  <a:noFill/>
                </a:ln>
                <a:solidFill>
                  <a:schemeClr val="tx1"/>
                </a:solidFill>
                <a:effectLst/>
              </a:rPr>
              <a:t>soil moisture or air humidity</a:t>
            </a:r>
            <a:r>
              <a:rPr kumimoji="0" lang="en-US" altLang="en-US" sz="1800" b="0" i="0" u="none" strike="noStrike" cap="none" normalizeH="0" baseline="0" dirty="0">
                <a:ln>
                  <a:noFill/>
                </a:ln>
                <a:solidFill>
                  <a:schemeClr val="tx1"/>
                </a:solidFill>
                <a:effectLst/>
              </a:rPr>
              <a:t>, but these do not accurately represent the </a:t>
            </a:r>
            <a:r>
              <a:rPr kumimoji="0" lang="en-US" altLang="en-US" sz="1800" b="1" i="0" u="none" strike="noStrike" cap="none" normalizeH="0" baseline="0" dirty="0">
                <a:ln>
                  <a:noFill/>
                </a:ln>
                <a:solidFill>
                  <a:schemeClr val="tx1"/>
                </a:solidFill>
                <a:effectLst/>
              </a:rPr>
              <a:t>plant’s actual physiological stress</a:t>
            </a:r>
            <a:r>
              <a:rPr kumimoji="0" lang="en-US" altLang="en-US" sz="1800" b="0" i="0" u="none" strike="noStrike" cap="none" normalizeH="0" baseline="0" dirty="0">
                <a:ln>
                  <a:noFill/>
                </a:ln>
                <a:solidFill>
                  <a:schemeClr val="tx1"/>
                </a:solidFill>
                <a:effectLst/>
              </a:rPr>
              <a:t> level.</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Dependence on non-renewable power sources:</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Current IoT-based monitoring setups use </a:t>
            </a:r>
            <a:r>
              <a:rPr kumimoji="0" lang="en-US" altLang="en-US" sz="1800" b="1" i="0" u="none" strike="noStrike" cap="none" normalizeH="0" baseline="0" dirty="0">
                <a:ln>
                  <a:noFill/>
                </a:ln>
                <a:solidFill>
                  <a:schemeClr val="tx1"/>
                </a:solidFill>
                <a:effectLst/>
              </a:rPr>
              <a:t>batteries or mains electricity</a:t>
            </a:r>
            <a:r>
              <a:rPr kumimoji="0" lang="en-US" altLang="en-US" sz="1800" b="0" i="0" u="none" strike="noStrike" cap="none" normalizeH="0" baseline="0" dirty="0">
                <a:ln>
                  <a:noFill/>
                </a:ln>
                <a:solidFill>
                  <a:schemeClr val="tx1"/>
                </a:solidFill>
                <a:effectLst/>
              </a:rPr>
              <a:t>, which increase maintenance costs and cause </a:t>
            </a:r>
            <a:r>
              <a:rPr kumimoji="0" lang="en-US" altLang="en-US" sz="1800" b="1" i="0" u="none" strike="noStrike" cap="none" normalizeH="0" baseline="0" dirty="0">
                <a:ln>
                  <a:noFill/>
                </a:ln>
                <a:solidFill>
                  <a:schemeClr val="tx1"/>
                </a:solidFill>
                <a:effectLst/>
              </a:rPr>
              <a:t>environmental waste</a:t>
            </a:r>
            <a:r>
              <a:rPr kumimoji="0" lang="en-US" altLang="en-US" sz="1800" b="0" i="0" u="none" strike="noStrike" cap="none" normalizeH="0" baseline="0" dirty="0">
                <a:ln>
                  <a:noFill/>
                </a:ln>
                <a:solidFill>
                  <a:schemeClr val="tx1"/>
                </a:solidFill>
                <a:effectLst/>
              </a:rPr>
              <a:t> from frequent replacements.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Limited energy availability for remote sensing:</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Rural or field-deployed systems lack </a:t>
            </a:r>
            <a:r>
              <a:rPr kumimoji="0" lang="en-US" altLang="en-US" sz="1800" b="1" i="0" u="none" strike="noStrike" cap="none" normalizeH="0" baseline="0" dirty="0">
                <a:ln>
                  <a:noFill/>
                </a:ln>
                <a:solidFill>
                  <a:schemeClr val="tx1"/>
                </a:solidFill>
                <a:effectLst/>
              </a:rPr>
              <a:t>continuous, self-sustaining energy sources</a:t>
            </a:r>
            <a:r>
              <a:rPr kumimoji="0" lang="en-US" altLang="en-US" sz="1800" b="0" i="0" u="none" strike="noStrike" cap="none" normalizeH="0" baseline="0" dirty="0">
                <a:ln>
                  <a:noFill/>
                </a:ln>
                <a:solidFill>
                  <a:schemeClr val="tx1"/>
                </a:solidFill>
                <a:effectLst/>
              </a:rPr>
              <a:t>, making it difficult to power sensors and transmit data reliably.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Inadequate integration of IoT and renewable bioenergy:</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There is a gap in combining </a:t>
            </a:r>
            <a:r>
              <a:rPr kumimoji="0" lang="en-US" altLang="en-US" sz="1800" b="1" i="0" u="none" strike="noStrike" cap="none" normalizeH="0" baseline="0" dirty="0">
                <a:ln>
                  <a:noFill/>
                </a:ln>
                <a:solidFill>
                  <a:schemeClr val="tx1"/>
                </a:solidFill>
                <a:effectLst/>
              </a:rPr>
              <a:t>Plant Microbial Fuel Cells (PMFCs)</a:t>
            </a:r>
            <a:r>
              <a:rPr kumimoji="0" lang="en-US" altLang="en-US" sz="1800" b="0" i="0" u="none" strike="noStrike" cap="none" normalizeH="0" baseline="0" dirty="0">
                <a:ln>
                  <a:noFill/>
                </a:ln>
                <a:solidFill>
                  <a:schemeClr val="tx1"/>
                </a:solidFill>
                <a:effectLst/>
              </a:rPr>
              <a:t> or </a:t>
            </a:r>
            <a:r>
              <a:rPr kumimoji="0" lang="en-US" altLang="en-US" sz="1800" b="1" i="0" u="none" strike="noStrike" cap="none" normalizeH="0" baseline="0" dirty="0">
                <a:ln>
                  <a:noFill/>
                </a:ln>
                <a:solidFill>
                  <a:schemeClr val="tx1"/>
                </a:solidFill>
                <a:effectLst/>
              </a:rPr>
              <a:t>solar power</a:t>
            </a:r>
            <a:r>
              <a:rPr kumimoji="0" lang="en-US" altLang="en-US" sz="1800" b="0" i="0" u="none" strike="noStrike" cap="none" normalizeH="0" baseline="0" dirty="0">
                <a:ln>
                  <a:noFill/>
                </a:ln>
                <a:solidFill>
                  <a:schemeClr val="tx1"/>
                </a:solidFill>
                <a:effectLst/>
              </a:rPr>
              <a:t> with IoT platforms for </a:t>
            </a:r>
            <a:r>
              <a:rPr kumimoji="0" lang="en-US" altLang="en-US" sz="1800" b="1" i="0" u="none" strike="noStrike" cap="none" normalizeH="0" baseline="0" dirty="0">
                <a:ln>
                  <a:noFill/>
                </a:ln>
                <a:solidFill>
                  <a:schemeClr val="tx1"/>
                </a:solidFill>
                <a:effectLst/>
              </a:rPr>
              <a:t>autonomous and long-term monitoring</a:t>
            </a:r>
            <a:r>
              <a:rPr kumimoji="0" lang="en-US" altLang="en-US" sz="1800" b="0" i="0" u="none" strike="noStrike" cap="none" normalizeH="0" baseline="0" dirty="0">
                <a:ln>
                  <a:noFill/>
                </a:ln>
                <a:solidFill>
                  <a:schemeClr val="tx1"/>
                </a:solidFill>
                <a:effectLst/>
              </a:rPr>
              <a:t> of plant health.</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rPr>
              <a:t>Delayed detection of plant water stress:</a:t>
            </a:r>
            <a:br>
              <a:rPr kumimoji="0" lang="en-US" altLang="en-US" sz="1800" b="0" i="0" u="none" strike="noStrike" cap="none" normalizeH="0" baseline="0" dirty="0">
                <a:ln>
                  <a:noFill/>
                </a:ln>
                <a:solidFill>
                  <a:schemeClr val="tx1"/>
                </a:solidFill>
                <a:effectLst/>
              </a:rPr>
            </a:br>
            <a:r>
              <a:rPr kumimoji="0" lang="en-US" altLang="en-US" sz="1800" b="0" i="0" u="none" strike="noStrike" cap="none" normalizeH="0" baseline="0" dirty="0">
                <a:ln>
                  <a:noFill/>
                </a:ln>
                <a:solidFill>
                  <a:schemeClr val="tx1"/>
                </a:solidFill>
                <a:effectLst/>
              </a:rPr>
              <a:t>Traditional visual methods detect stress </a:t>
            </a:r>
            <a:r>
              <a:rPr kumimoji="0" lang="en-US" altLang="en-US" sz="1800" b="1" i="0" u="none" strike="noStrike" cap="none" normalizeH="0" baseline="0" dirty="0">
                <a:ln>
                  <a:noFill/>
                </a:ln>
                <a:solidFill>
                  <a:schemeClr val="tx1"/>
                </a:solidFill>
                <a:effectLst/>
              </a:rPr>
              <a:t>after damage occurs</a:t>
            </a:r>
            <a:r>
              <a:rPr kumimoji="0" lang="en-US" altLang="en-US" sz="1800" b="0" i="0" u="none" strike="noStrike" cap="none" normalizeH="0" baseline="0" dirty="0">
                <a:ln>
                  <a:noFill/>
                </a:ln>
                <a:solidFill>
                  <a:schemeClr val="tx1"/>
                </a:solidFill>
                <a:effectLst/>
              </a:rPr>
              <a:t>, whereas </a:t>
            </a:r>
            <a:r>
              <a:rPr kumimoji="0" lang="en-US" altLang="en-US" sz="1800" b="1" i="0" u="none" strike="noStrike" cap="none" normalizeH="0" baseline="0" dirty="0">
                <a:ln>
                  <a:noFill/>
                </a:ln>
                <a:solidFill>
                  <a:schemeClr val="tx1"/>
                </a:solidFill>
                <a:effectLst/>
              </a:rPr>
              <a:t>bioelectrical and impedance-based monitoring</a:t>
            </a:r>
            <a:r>
              <a:rPr kumimoji="0" lang="en-US" altLang="en-US" sz="1800" b="0" i="0" u="none" strike="noStrike" cap="none" normalizeH="0" baseline="0" dirty="0">
                <a:ln>
                  <a:noFill/>
                </a:ln>
                <a:solidFill>
                  <a:schemeClr val="tx1"/>
                </a:solidFill>
                <a:effectLst/>
              </a:rPr>
              <a:t> can offer </a:t>
            </a:r>
            <a:r>
              <a:rPr kumimoji="0" lang="en-US" altLang="en-US" sz="1800" b="1" i="0" u="none" strike="noStrike" cap="none" normalizeH="0" baseline="0" dirty="0">
                <a:ln>
                  <a:noFill/>
                </a:ln>
                <a:solidFill>
                  <a:schemeClr val="tx1"/>
                </a:solidFill>
                <a:effectLst/>
              </a:rPr>
              <a:t>early, real-time detection</a:t>
            </a:r>
            <a:r>
              <a:rPr kumimoji="0" lang="en-US" altLang="en-US" sz="1800" b="0" i="0" u="none" strike="noStrike" cap="none" normalizeH="0" baseline="0" dirty="0">
                <a:ln>
                  <a:noFill/>
                </a:ln>
                <a:solidFill>
                  <a:schemeClr val="tx1"/>
                </a:solidFill>
                <a:effectLst/>
              </a:rPr>
              <a:t> — but are not yet widely implemented in low-cost field systems.</a:t>
            </a:r>
          </a:p>
        </p:txBody>
      </p:sp>
    </p:spTree>
    <p:extLst>
      <p:ext uri="{BB962C8B-B14F-4D97-AF65-F5344CB8AC3E}">
        <p14:creationId xmlns:p14="http://schemas.microsoft.com/office/powerpoint/2010/main" val="1567233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D7B9D-0872-1427-4416-586CE586920E}"/>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0BA8FBF-3666-7073-0A50-0F08215A7FBB}"/>
              </a:ext>
            </a:extLst>
          </p:cNvPr>
          <p:cNvSpPr>
            <a:spLocks noGrp="1"/>
          </p:cNvSpPr>
          <p:nvPr>
            <p:ph type="title"/>
          </p:nvPr>
        </p:nvSpPr>
        <p:spPr/>
        <p:txBody>
          <a:bodyPr/>
          <a:lstStyle/>
          <a:p>
            <a:r>
              <a:rPr lang="en-IN" dirty="0"/>
              <a:t>Methodology</a:t>
            </a:r>
          </a:p>
        </p:txBody>
      </p:sp>
      <p:sp>
        <p:nvSpPr>
          <p:cNvPr id="10" name="Content Placeholder 9">
            <a:extLst>
              <a:ext uri="{FF2B5EF4-FFF2-40B4-BE49-F238E27FC236}">
                <a16:creationId xmlns:a16="http://schemas.microsoft.com/office/drawing/2014/main" id="{185B2B1E-4724-9AA9-84D4-396ADF2484FD}"/>
              </a:ext>
            </a:extLst>
          </p:cNvPr>
          <p:cNvSpPr>
            <a:spLocks noGrp="1"/>
          </p:cNvSpPr>
          <p:nvPr>
            <p:ph sz="half" idx="1"/>
          </p:nvPr>
        </p:nvSpPr>
        <p:spPr>
          <a:xfrm>
            <a:off x="90000" y="1525816"/>
            <a:ext cx="11880000" cy="4929848"/>
          </a:xfrm>
        </p:spPr>
        <p:txBody>
          <a:bodyPr>
            <a:noAutofit/>
          </a:bodyPr>
          <a:lstStyle/>
          <a:p>
            <a:pPr algn="just"/>
            <a:r>
              <a:rPr lang="en-US" sz="2400" b="0" dirty="0"/>
              <a:t>To design a </a:t>
            </a:r>
            <a:r>
              <a:rPr lang="en-US" sz="2400" dirty="0"/>
              <a:t>low-power IoT device </a:t>
            </a:r>
            <a:r>
              <a:rPr lang="en-US" sz="2400" b="0" dirty="0"/>
              <a:t>that monitors </a:t>
            </a:r>
            <a:r>
              <a:rPr lang="en-US" sz="2400" dirty="0"/>
              <a:t>plant water stress </a:t>
            </a:r>
            <a:r>
              <a:rPr lang="en-US" sz="2400" b="0" dirty="0"/>
              <a:t>directly from the plant’s stem using bioelectrical signals.</a:t>
            </a:r>
          </a:p>
          <a:p>
            <a:pPr algn="just"/>
            <a:r>
              <a:rPr lang="en-US" sz="2400" b="0" dirty="0"/>
              <a:t>The system must be self-powered using </a:t>
            </a:r>
            <a:r>
              <a:rPr lang="en-US" sz="2400" dirty="0"/>
              <a:t>renewable energy sources </a:t>
            </a:r>
            <a:r>
              <a:rPr lang="en-US" sz="2400" b="0" dirty="0"/>
              <a:t>and operate without batteries. </a:t>
            </a:r>
          </a:p>
          <a:p>
            <a:pPr eaLnBrk="0" fontAlgn="base" hangingPunct="0">
              <a:lnSpc>
                <a:spcPct val="100000"/>
              </a:lnSpc>
              <a:spcBef>
                <a:spcPct val="0"/>
              </a:spcBef>
              <a:spcAft>
                <a:spcPct val="0"/>
              </a:spcAft>
            </a:pPr>
            <a:r>
              <a:rPr lang="en-US" altLang="en-US" sz="2400" b="0" dirty="0"/>
              <a:t>The </a:t>
            </a:r>
            <a:r>
              <a:rPr lang="en-US" altLang="en-US" sz="2400" dirty="0"/>
              <a:t>plant itself</a:t>
            </a:r>
            <a:r>
              <a:rPr lang="en-US" altLang="en-US" sz="2400" b="0" dirty="0"/>
              <a:t> becomes part of an </a:t>
            </a:r>
            <a:r>
              <a:rPr lang="en-US" altLang="en-US" sz="2400" dirty="0"/>
              <a:t>electronic circuit</a:t>
            </a:r>
            <a:r>
              <a:rPr lang="en-US" altLang="en-US" sz="2400" b="0" dirty="0"/>
              <a:t> that detects water stress.</a:t>
            </a:r>
          </a:p>
          <a:p>
            <a:pPr eaLnBrk="0" fontAlgn="base" hangingPunct="0">
              <a:lnSpc>
                <a:spcPct val="100000"/>
              </a:lnSpc>
              <a:spcBef>
                <a:spcPct val="0"/>
              </a:spcBef>
              <a:spcAft>
                <a:spcPct val="0"/>
              </a:spcAft>
            </a:pPr>
            <a:r>
              <a:rPr lang="en-US" altLang="en-US" sz="2400" b="0" dirty="0"/>
              <a:t>A </a:t>
            </a:r>
            <a:r>
              <a:rPr lang="en-US" altLang="en-US" sz="2400" dirty="0"/>
              <a:t>relaxation oscillator</a:t>
            </a:r>
            <a:r>
              <a:rPr lang="en-US" altLang="en-US" sz="2400" b="0" dirty="0"/>
              <a:t> generates a </a:t>
            </a:r>
            <a:r>
              <a:rPr lang="en-US" altLang="en-US" sz="2400" dirty="0"/>
              <a:t>square-wave signal</a:t>
            </a:r>
            <a:r>
              <a:rPr lang="en-US" altLang="en-US" sz="2400" b="0" dirty="0"/>
              <a:t>, where the </a:t>
            </a:r>
            <a:r>
              <a:rPr lang="en-US" altLang="en-US" sz="2400" dirty="0"/>
              <a:t>plant stem’s impedance</a:t>
            </a:r>
            <a:r>
              <a:rPr lang="en-US" altLang="en-US" sz="2400" b="0" dirty="0"/>
              <a:t> determines the </a:t>
            </a:r>
            <a:r>
              <a:rPr lang="en-US" altLang="en-US" sz="2400" dirty="0"/>
              <a:t>output frequency</a:t>
            </a:r>
            <a:r>
              <a:rPr lang="en-US" altLang="en-US" sz="2400" b="0" dirty="0"/>
              <a:t>.</a:t>
            </a:r>
          </a:p>
          <a:p>
            <a:pPr eaLnBrk="0" fontAlgn="base" hangingPunct="0">
              <a:lnSpc>
                <a:spcPct val="100000"/>
              </a:lnSpc>
              <a:spcBef>
                <a:spcPct val="0"/>
              </a:spcBef>
              <a:spcAft>
                <a:spcPct val="0"/>
              </a:spcAft>
            </a:pPr>
            <a:r>
              <a:rPr lang="en-US" altLang="en-US" sz="2400" b="0" dirty="0"/>
              <a:t>As the plant experiences </a:t>
            </a:r>
            <a:r>
              <a:rPr lang="en-US" altLang="en-US" sz="2400" dirty="0"/>
              <a:t>water stress</a:t>
            </a:r>
            <a:r>
              <a:rPr lang="en-US" altLang="en-US" sz="2400" b="0" dirty="0"/>
              <a:t>, its internal water content and electrical properties change, which </a:t>
            </a:r>
            <a:r>
              <a:rPr lang="en-US" altLang="en-US" sz="2400" dirty="0"/>
              <a:t>alters the measured frequency</a:t>
            </a:r>
            <a:r>
              <a:rPr lang="en-US" altLang="en-US" sz="2400" b="0" dirty="0"/>
              <a:t>.</a:t>
            </a:r>
          </a:p>
          <a:p>
            <a:pPr eaLnBrk="0" fontAlgn="base" hangingPunct="0">
              <a:lnSpc>
                <a:spcPct val="100000"/>
              </a:lnSpc>
              <a:spcBef>
                <a:spcPct val="0"/>
              </a:spcBef>
              <a:spcAft>
                <a:spcPct val="0"/>
              </a:spcAft>
            </a:pPr>
            <a:r>
              <a:rPr lang="en-US" altLang="en-US" sz="2400" b="0" dirty="0"/>
              <a:t>The frequency is </a:t>
            </a:r>
            <a:r>
              <a:rPr lang="en-US" altLang="en-US" sz="2400" dirty="0"/>
              <a:t>correlated to soil water potential, </a:t>
            </a:r>
            <a:r>
              <a:rPr lang="en-US" altLang="en-US" sz="2400" b="0" dirty="0"/>
              <a:t>if frequency increases or decreases beyond a threshold, the plant is stressed.</a:t>
            </a:r>
          </a:p>
          <a:p>
            <a:pPr eaLnBrk="0" fontAlgn="base" hangingPunct="0">
              <a:lnSpc>
                <a:spcPct val="100000"/>
              </a:lnSpc>
              <a:spcBef>
                <a:spcPct val="0"/>
              </a:spcBef>
              <a:spcAft>
                <a:spcPct val="0"/>
              </a:spcAft>
            </a:pPr>
            <a:r>
              <a:rPr lang="en-US" altLang="en-US" sz="2400" b="0" dirty="0"/>
              <a:t>The data is </a:t>
            </a:r>
            <a:r>
              <a:rPr lang="en-US" altLang="en-US" sz="2400" dirty="0"/>
              <a:t>transmitted wirelessly</a:t>
            </a:r>
            <a:r>
              <a:rPr lang="en-US" altLang="en-US" sz="2400" b="0" dirty="0"/>
              <a:t> to a monitoring system, where it can be viewed on an </a:t>
            </a:r>
            <a:r>
              <a:rPr lang="en-US" altLang="en-US" sz="2400" dirty="0"/>
              <a:t>IoT dashboard</a:t>
            </a:r>
            <a:r>
              <a:rPr lang="en-US" altLang="en-US" sz="2400" b="0" dirty="0"/>
              <a:t>.</a:t>
            </a:r>
          </a:p>
          <a:p>
            <a:pPr algn="just"/>
            <a:endParaRPr lang="en-US" altLang="en-US" sz="2400" b="0" dirty="0"/>
          </a:p>
        </p:txBody>
      </p:sp>
      <p:sp>
        <p:nvSpPr>
          <p:cNvPr id="7" name="Footer Placeholder 6">
            <a:extLst>
              <a:ext uri="{FF2B5EF4-FFF2-40B4-BE49-F238E27FC236}">
                <a16:creationId xmlns:a16="http://schemas.microsoft.com/office/drawing/2014/main" id="{E22FA540-905E-0EDA-6300-A2C5BEF3AF2C}"/>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8" name="Slide Number Placeholder 7">
            <a:extLst>
              <a:ext uri="{FF2B5EF4-FFF2-40B4-BE49-F238E27FC236}">
                <a16:creationId xmlns:a16="http://schemas.microsoft.com/office/drawing/2014/main" id="{9921AC05-9782-FEF9-C1DC-1D447D044DF7}"/>
              </a:ext>
            </a:extLst>
          </p:cNvPr>
          <p:cNvSpPr>
            <a:spLocks noGrp="1"/>
          </p:cNvSpPr>
          <p:nvPr>
            <p:ph type="sldNum" sz="quarter" idx="12"/>
          </p:nvPr>
        </p:nvSpPr>
        <p:spPr/>
        <p:txBody>
          <a:bodyPr/>
          <a:lstStyle/>
          <a:p>
            <a:fld id="{EEC824EF-4F39-42CE-B61A-92299691A099}" type="slidenum">
              <a:rPr lang="en-IN" smtClean="0"/>
              <a:t>8</a:t>
            </a:fld>
            <a:endParaRPr lang="en-IN"/>
          </a:p>
        </p:txBody>
      </p:sp>
    </p:spTree>
    <p:extLst>
      <p:ext uri="{BB962C8B-B14F-4D97-AF65-F5344CB8AC3E}">
        <p14:creationId xmlns:p14="http://schemas.microsoft.com/office/powerpoint/2010/main" val="17806180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C8E1-27CD-FBE4-123A-1B73B5D564BA}"/>
              </a:ext>
            </a:extLst>
          </p:cNvPr>
          <p:cNvSpPr>
            <a:spLocks noGrp="1"/>
          </p:cNvSpPr>
          <p:nvPr>
            <p:ph type="title"/>
          </p:nvPr>
        </p:nvSpPr>
        <p:spPr/>
        <p:txBody>
          <a:bodyPr/>
          <a:lstStyle/>
          <a:p>
            <a:r>
              <a:rPr lang="en-IN" dirty="0"/>
              <a:t>Block Diagram</a:t>
            </a:r>
          </a:p>
        </p:txBody>
      </p:sp>
      <p:pic>
        <p:nvPicPr>
          <p:cNvPr id="7" name="Content Placeholder 6">
            <a:extLst>
              <a:ext uri="{FF2B5EF4-FFF2-40B4-BE49-F238E27FC236}">
                <a16:creationId xmlns:a16="http://schemas.microsoft.com/office/drawing/2014/main" id="{BF622F0D-B165-938D-8047-A733FD6D5D1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6368" y="2808239"/>
            <a:ext cx="11879263" cy="2298733"/>
          </a:xfrm>
          <a:prstGeom prst="rect">
            <a:avLst/>
          </a:prstGeom>
        </p:spPr>
      </p:pic>
      <p:sp>
        <p:nvSpPr>
          <p:cNvPr id="4" name="Slide Number Placeholder 3">
            <a:extLst>
              <a:ext uri="{FF2B5EF4-FFF2-40B4-BE49-F238E27FC236}">
                <a16:creationId xmlns:a16="http://schemas.microsoft.com/office/drawing/2014/main" id="{DA0CD05D-D652-70A1-6909-F8E11199469B}"/>
              </a:ext>
            </a:extLst>
          </p:cNvPr>
          <p:cNvSpPr>
            <a:spLocks noGrp="1"/>
          </p:cNvSpPr>
          <p:nvPr>
            <p:ph type="sldNum" sz="quarter" idx="12"/>
          </p:nvPr>
        </p:nvSpPr>
        <p:spPr/>
        <p:txBody>
          <a:bodyPr/>
          <a:lstStyle/>
          <a:p>
            <a:fld id="{EEC824EF-4F39-42CE-B61A-92299691A099}" type="slidenum">
              <a:rPr lang="en-IN" smtClean="0"/>
              <a:t>9</a:t>
            </a:fld>
            <a:endParaRPr lang="en-IN"/>
          </a:p>
        </p:txBody>
      </p:sp>
      <p:sp>
        <p:nvSpPr>
          <p:cNvPr id="5" name="Footer Placeholder 4">
            <a:extLst>
              <a:ext uri="{FF2B5EF4-FFF2-40B4-BE49-F238E27FC236}">
                <a16:creationId xmlns:a16="http://schemas.microsoft.com/office/drawing/2014/main" id="{A35F7486-C4EB-ECEC-A269-92C01A4A1608}"/>
              </a:ext>
            </a:extLst>
          </p:cNvPr>
          <p:cNvSpPr>
            <a:spLocks noGrp="1"/>
          </p:cNvSpPr>
          <p:nvPr>
            <p:ph type="ftr" sz="quarter" idx="3"/>
          </p:nvPr>
        </p:nvSpPr>
        <p:spPr/>
        <p:txBody>
          <a:body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28036562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69BD3-C200-B26E-1817-B5EB9D6C092B}"/>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28A6376F-6EAB-4141-013C-9E39EF4AEE38}"/>
              </a:ext>
            </a:extLst>
          </p:cNvPr>
          <p:cNvSpPr>
            <a:spLocks noGrp="1"/>
          </p:cNvSpPr>
          <p:nvPr>
            <p:ph type="title"/>
          </p:nvPr>
        </p:nvSpPr>
        <p:spPr>
          <a:xfrm>
            <a:off x="1620000" y="109750"/>
            <a:ext cx="10440000" cy="1350000"/>
          </a:xfrm>
        </p:spPr>
        <p:txBody>
          <a:bodyPr>
            <a:normAutofit/>
          </a:bodyPr>
          <a:lstStyle/>
          <a:p>
            <a:r>
              <a:rPr lang="en-IN" dirty="0"/>
              <a:t>Flow Chart</a:t>
            </a:r>
          </a:p>
        </p:txBody>
      </p:sp>
      <p:sp>
        <p:nvSpPr>
          <p:cNvPr id="7" name="Footer Placeholder 6">
            <a:extLst>
              <a:ext uri="{FF2B5EF4-FFF2-40B4-BE49-F238E27FC236}">
                <a16:creationId xmlns:a16="http://schemas.microsoft.com/office/drawing/2014/main" id="{AF24D648-6506-B8BB-F851-A243968DAB80}"/>
              </a:ext>
            </a:extLst>
          </p:cNvPr>
          <p:cNvSpPr>
            <a:spLocks noGrp="1"/>
          </p:cNvSpPr>
          <p:nvPr>
            <p:ph type="ftr" sz="quarter" idx="11"/>
          </p:nvPr>
        </p:nvSpPr>
        <p:spPr>
          <a:xfrm>
            <a:off x="-221999" y="6383125"/>
            <a:ext cx="12191999" cy="365125"/>
          </a:xfrm>
        </p:spPr>
        <p:txBody>
          <a:bodyPr/>
          <a:lstStyle/>
          <a:p>
            <a:r>
              <a:rPr lang="en-IN" sz="2000">
                <a:latin typeface="Maiandra GD" panose="020E0502030308020204" pitchFamily="34" charset="0"/>
              </a:rPr>
              <a:t>Department of Electronics &amp; Instrumentation Engineering, VNRVJIET</a:t>
            </a:r>
            <a:endParaRPr lang="en-IN" sz="2000" dirty="0">
              <a:latin typeface="Maiandra GD" panose="020E0502030308020204" pitchFamily="34" charset="0"/>
            </a:endParaRPr>
          </a:p>
        </p:txBody>
      </p:sp>
      <p:sp>
        <p:nvSpPr>
          <p:cNvPr id="8" name="Slide Number Placeholder 7">
            <a:extLst>
              <a:ext uri="{FF2B5EF4-FFF2-40B4-BE49-F238E27FC236}">
                <a16:creationId xmlns:a16="http://schemas.microsoft.com/office/drawing/2014/main" id="{8D754E4A-D4BF-6E63-E345-ADFF5EE62C31}"/>
              </a:ext>
            </a:extLst>
          </p:cNvPr>
          <p:cNvSpPr>
            <a:spLocks noGrp="1"/>
          </p:cNvSpPr>
          <p:nvPr>
            <p:ph type="sldNum" sz="quarter" idx="12"/>
          </p:nvPr>
        </p:nvSpPr>
        <p:spPr/>
        <p:txBody>
          <a:bodyPr/>
          <a:lstStyle/>
          <a:p>
            <a:fld id="{EEC824EF-4F39-42CE-B61A-92299691A099}" type="slidenum">
              <a:rPr lang="en-IN" sz="2000" smtClean="0">
                <a:latin typeface="Maiandra GD" panose="020E0502030308020204" pitchFamily="34" charset="0"/>
              </a:rPr>
              <a:t>10</a:t>
            </a:fld>
            <a:endParaRPr lang="en-IN" sz="2000">
              <a:latin typeface="Maiandra GD" panose="020E0502030308020204" pitchFamily="34" charset="0"/>
            </a:endParaRPr>
          </a:p>
        </p:txBody>
      </p:sp>
      <p:pic>
        <p:nvPicPr>
          <p:cNvPr id="10" name="Picture 9">
            <a:extLst>
              <a:ext uri="{FF2B5EF4-FFF2-40B4-BE49-F238E27FC236}">
                <a16:creationId xmlns:a16="http://schemas.microsoft.com/office/drawing/2014/main" id="{91C6B503-A240-AA0D-5EC1-A22595F2B6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9728" y="1459750"/>
            <a:ext cx="3313176" cy="4930260"/>
          </a:xfrm>
          <a:prstGeom prst="rect">
            <a:avLst/>
          </a:prstGeom>
        </p:spPr>
      </p:pic>
    </p:spTree>
    <p:extLst>
      <p:ext uri="{BB962C8B-B14F-4D97-AF65-F5344CB8AC3E}">
        <p14:creationId xmlns:p14="http://schemas.microsoft.com/office/powerpoint/2010/main" val="37717171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2ED37-091F-7E5A-DF0E-224CEE64FD75}"/>
              </a:ext>
            </a:extLst>
          </p:cNvPr>
          <p:cNvSpPr>
            <a:spLocks noGrp="1"/>
          </p:cNvSpPr>
          <p:nvPr>
            <p:ph type="title"/>
          </p:nvPr>
        </p:nvSpPr>
        <p:spPr/>
        <p:txBody>
          <a:bodyPr/>
          <a:lstStyle/>
          <a:p>
            <a:r>
              <a:rPr lang="en-IN" dirty="0"/>
              <a:t>Development and Implementation</a:t>
            </a:r>
          </a:p>
        </p:txBody>
      </p:sp>
      <p:sp>
        <p:nvSpPr>
          <p:cNvPr id="3" name="Content Placeholder 2">
            <a:extLst>
              <a:ext uri="{FF2B5EF4-FFF2-40B4-BE49-F238E27FC236}">
                <a16:creationId xmlns:a16="http://schemas.microsoft.com/office/drawing/2014/main" id="{D9F88D79-6920-D3D2-8904-CDAF980A4377}"/>
              </a:ext>
            </a:extLst>
          </p:cNvPr>
          <p:cNvSpPr>
            <a:spLocks noGrp="1"/>
          </p:cNvSpPr>
          <p:nvPr>
            <p:ph sz="half" idx="1"/>
          </p:nvPr>
        </p:nvSpPr>
        <p:spPr>
          <a:xfrm>
            <a:off x="180000" y="1461807"/>
            <a:ext cx="7071192" cy="5061048"/>
          </a:xfrm>
        </p:spPr>
        <p:txBody>
          <a:bodyPr>
            <a:noAutofit/>
          </a:bodyPr>
          <a:lstStyle/>
          <a:p>
            <a:pPr marL="0" indent="0" algn="just">
              <a:buNone/>
            </a:pPr>
            <a:r>
              <a:rPr lang="en-US" sz="2200" dirty="0"/>
              <a:t>System Overview</a:t>
            </a:r>
          </a:p>
          <a:p>
            <a:pPr algn="just"/>
            <a:r>
              <a:rPr lang="en-US" sz="2200" b="0" dirty="0"/>
              <a:t>A complete prototype of the renewable energy powered IoT-based plant water stress monitoring system has been successfully developed and tested under real-time conditions.</a:t>
            </a:r>
          </a:p>
          <a:p>
            <a:pPr marL="0" indent="0" algn="just">
              <a:buNone/>
            </a:pPr>
            <a:r>
              <a:rPr lang="en-IN" sz="2200" dirty="0"/>
              <a:t>Hardware Implementation</a:t>
            </a:r>
          </a:p>
          <a:p>
            <a:pPr algn="just"/>
            <a:r>
              <a:rPr lang="en-IN" sz="2200" dirty="0"/>
              <a:t>PMFC Prototype:</a:t>
            </a:r>
            <a:r>
              <a:rPr lang="en-IN" sz="2200" b="0" dirty="0"/>
              <a:t> Developed using a tomato plant with zinc (anode) and copper (cathode) electrodes.</a:t>
            </a:r>
          </a:p>
          <a:p>
            <a:pPr algn="just"/>
            <a:r>
              <a:rPr lang="en-IN" sz="2200" dirty="0"/>
              <a:t>Renewable Energy Integration:</a:t>
            </a:r>
            <a:r>
              <a:rPr lang="en-IN" sz="2200" b="0" dirty="0"/>
              <a:t> Solar panel integrated with PMFC to form a hybrid energy system, supported by a DC–DC converter and energy storage unit for stable power supply.</a:t>
            </a:r>
          </a:p>
          <a:p>
            <a:pPr marL="0" indent="0" algn="just">
              <a:buNone/>
            </a:pPr>
            <a:endParaRPr lang="en-US" sz="2200" b="0" dirty="0"/>
          </a:p>
        </p:txBody>
      </p:sp>
      <p:sp>
        <p:nvSpPr>
          <p:cNvPr id="4" name="Footer Placeholder 3">
            <a:extLst>
              <a:ext uri="{FF2B5EF4-FFF2-40B4-BE49-F238E27FC236}">
                <a16:creationId xmlns:a16="http://schemas.microsoft.com/office/drawing/2014/main" id="{03073E7C-2817-9427-6EB2-A98BC57B7BD5}"/>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BC71759F-9ED6-3832-D0F3-AA32A5D9CC49}"/>
              </a:ext>
            </a:extLst>
          </p:cNvPr>
          <p:cNvSpPr>
            <a:spLocks noGrp="1"/>
          </p:cNvSpPr>
          <p:nvPr>
            <p:ph type="sldNum" sz="quarter" idx="12"/>
          </p:nvPr>
        </p:nvSpPr>
        <p:spPr/>
        <p:txBody>
          <a:bodyPr/>
          <a:lstStyle/>
          <a:p>
            <a:fld id="{EEC824EF-4F39-42CE-B61A-92299691A099}" type="slidenum">
              <a:rPr lang="en-IN" smtClean="0"/>
              <a:pPr/>
              <a:t>11</a:t>
            </a:fld>
            <a:endParaRPr lang="en-IN" dirty="0"/>
          </a:p>
        </p:txBody>
      </p:sp>
      <p:pic>
        <p:nvPicPr>
          <p:cNvPr id="10" name="Picture 9">
            <a:extLst>
              <a:ext uri="{FF2B5EF4-FFF2-40B4-BE49-F238E27FC236}">
                <a16:creationId xmlns:a16="http://schemas.microsoft.com/office/drawing/2014/main" id="{E86703AF-05B3-DE8A-9B68-1E6320F9DC3E}"/>
              </a:ext>
            </a:extLst>
          </p:cNvPr>
          <p:cNvPicPr>
            <a:picLocks noChangeAspect="1"/>
          </p:cNvPicPr>
          <p:nvPr/>
        </p:nvPicPr>
        <p:blipFill>
          <a:blip r:embed="rId2"/>
          <a:srcRect t="19746" b="16233"/>
          <a:stretch>
            <a:fillRect/>
          </a:stretch>
        </p:blipFill>
        <p:spPr>
          <a:xfrm>
            <a:off x="7798451" y="1673352"/>
            <a:ext cx="3622405" cy="4124843"/>
          </a:xfrm>
          <a:prstGeom prst="rect">
            <a:avLst/>
          </a:prstGeom>
        </p:spPr>
      </p:pic>
      <p:sp>
        <p:nvSpPr>
          <p:cNvPr id="11" name="TextBox 10">
            <a:extLst>
              <a:ext uri="{FF2B5EF4-FFF2-40B4-BE49-F238E27FC236}">
                <a16:creationId xmlns:a16="http://schemas.microsoft.com/office/drawing/2014/main" id="{6BFB9583-73E0-C6E5-8819-43ABBFE865AB}"/>
              </a:ext>
            </a:extLst>
          </p:cNvPr>
          <p:cNvSpPr txBox="1"/>
          <p:nvPr/>
        </p:nvSpPr>
        <p:spPr>
          <a:xfrm>
            <a:off x="7694237" y="5876524"/>
            <a:ext cx="3830832" cy="646331"/>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Figure 1: Plant Microbial Fuel Cell (PMFC) Setup</a:t>
            </a:r>
          </a:p>
        </p:txBody>
      </p:sp>
    </p:spTree>
    <p:extLst>
      <p:ext uri="{BB962C8B-B14F-4D97-AF65-F5344CB8AC3E}">
        <p14:creationId xmlns:p14="http://schemas.microsoft.com/office/powerpoint/2010/main" val="6897168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AA152-6897-3100-0B84-3588C70FF8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51496-BC13-5DFE-C5E1-E4E9224C2B61}"/>
              </a:ext>
            </a:extLst>
          </p:cNvPr>
          <p:cNvSpPr>
            <a:spLocks noGrp="1"/>
          </p:cNvSpPr>
          <p:nvPr>
            <p:ph type="title"/>
          </p:nvPr>
        </p:nvSpPr>
        <p:spPr/>
        <p:txBody>
          <a:bodyPr/>
          <a:lstStyle/>
          <a:p>
            <a:r>
              <a:rPr lang="en-IN" dirty="0"/>
              <a:t>Development and Implementation</a:t>
            </a:r>
          </a:p>
        </p:txBody>
      </p:sp>
      <p:sp>
        <p:nvSpPr>
          <p:cNvPr id="3" name="Content Placeholder 2">
            <a:extLst>
              <a:ext uri="{FF2B5EF4-FFF2-40B4-BE49-F238E27FC236}">
                <a16:creationId xmlns:a16="http://schemas.microsoft.com/office/drawing/2014/main" id="{0C9B55F8-512A-DA38-B0B2-ADBD42FE0F46}"/>
              </a:ext>
            </a:extLst>
          </p:cNvPr>
          <p:cNvSpPr>
            <a:spLocks noGrp="1"/>
          </p:cNvSpPr>
          <p:nvPr>
            <p:ph sz="half" idx="1"/>
          </p:nvPr>
        </p:nvSpPr>
        <p:spPr>
          <a:xfrm>
            <a:off x="180000" y="1461807"/>
            <a:ext cx="5781888" cy="5061048"/>
          </a:xfrm>
        </p:spPr>
        <p:txBody>
          <a:bodyPr>
            <a:noAutofit/>
          </a:bodyPr>
          <a:lstStyle/>
          <a:p>
            <a:pPr marL="0" indent="0" algn="just">
              <a:buNone/>
            </a:pPr>
            <a:r>
              <a:rPr lang="en-US" sz="2000" dirty="0"/>
              <a:t>Plant-Based Sensing System</a:t>
            </a:r>
          </a:p>
          <a:p>
            <a:pPr algn="just"/>
            <a:r>
              <a:rPr lang="en-US" sz="2000" b="0" dirty="0"/>
              <a:t>Plant Moisture measured using electrode sensors </a:t>
            </a:r>
          </a:p>
          <a:p>
            <a:pPr marL="0" indent="0" algn="just">
              <a:buNone/>
            </a:pPr>
            <a:r>
              <a:rPr lang="en-US" sz="2000" dirty="0"/>
              <a:t>Environmental Monitoring</a:t>
            </a:r>
          </a:p>
          <a:p>
            <a:pPr algn="just"/>
            <a:r>
              <a:rPr lang="en-US" sz="2000" b="0" dirty="0"/>
              <a:t>Temperature and humidity sensor </a:t>
            </a:r>
          </a:p>
          <a:p>
            <a:pPr algn="just"/>
            <a:r>
              <a:rPr lang="en-US" sz="2000" b="0" dirty="0"/>
              <a:t>Light intensity sensor (LDR) </a:t>
            </a:r>
          </a:p>
          <a:p>
            <a:pPr marL="0" indent="0" algn="just">
              <a:buNone/>
            </a:pPr>
            <a:r>
              <a:rPr lang="en-US" sz="2000" dirty="0"/>
              <a:t>Control &amp; IoT Implementation</a:t>
            </a:r>
          </a:p>
          <a:p>
            <a:pPr algn="just"/>
            <a:r>
              <a:rPr lang="en-US" sz="2000" b="0" dirty="0"/>
              <a:t>Microcontroller: ESP8266 </a:t>
            </a:r>
          </a:p>
          <a:p>
            <a:pPr algn="just"/>
            <a:r>
              <a:rPr lang="en-US" sz="2000" b="0" dirty="0"/>
              <a:t>Real-time data transmitted to </a:t>
            </a:r>
            <a:r>
              <a:rPr lang="en-US" sz="2000" b="0" dirty="0" err="1"/>
              <a:t>ThingSpeak</a:t>
            </a:r>
            <a:r>
              <a:rPr lang="en-US" sz="2000" b="0" dirty="0"/>
              <a:t> cloud platform </a:t>
            </a:r>
          </a:p>
          <a:p>
            <a:pPr marL="0" indent="0" algn="just">
              <a:buNone/>
            </a:pPr>
            <a:r>
              <a:rPr lang="en-US" sz="2000" dirty="0"/>
              <a:t>Automation Feature</a:t>
            </a:r>
          </a:p>
          <a:p>
            <a:pPr algn="just"/>
            <a:r>
              <a:rPr lang="en-US" sz="2000" b="0" dirty="0"/>
              <a:t>Relay-controlled automatic water pump </a:t>
            </a:r>
          </a:p>
          <a:p>
            <a:pPr algn="just"/>
            <a:r>
              <a:rPr lang="en-US" sz="2000" b="0" dirty="0"/>
              <a:t>Activated when plant stress crosses threshold value</a:t>
            </a:r>
          </a:p>
          <a:p>
            <a:pPr marL="0" indent="0" algn="just">
              <a:buNone/>
            </a:pPr>
            <a:endParaRPr lang="en-US" sz="2000" b="0" dirty="0"/>
          </a:p>
          <a:p>
            <a:pPr marL="0" indent="0" algn="just">
              <a:buNone/>
            </a:pPr>
            <a:endParaRPr lang="en-US" sz="2000" b="0" dirty="0"/>
          </a:p>
        </p:txBody>
      </p:sp>
      <p:sp>
        <p:nvSpPr>
          <p:cNvPr id="4" name="Footer Placeholder 3">
            <a:extLst>
              <a:ext uri="{FF2B5EF4-FFF2-40B4-BE49-F238E27FC236}">
                <a16:creationId xmlns:a16="http://schemas.microsoft.com/office/drawing/2014/main" id="{4B6F70A0-5567-30FF-360C-370B5511CDFA}"/>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24E542E7-58AE-711B-59DF-4E58E6107369}"/>
              </a:ext>
            </a:extLst>
          </p:cNvPr>
          <p:cNvSpPr>
            <a:spLocks noGrp="1"/>
          </p:cNvSpPr>
          <p:nvPr>
            <p:ph type="sldNum" sz="quarter" idx="12"/>
          </p:nvPr>
        </p:nvSpPr>
        <p:spPr/>
        <p:txBody>
          <a:bodyPr/>
          <a:lstStyle/>
          <a:p>
            <a:fld id="{EEC824EF-4F39-42CE-B61A-92299691A099}" type="slidenum">
              <a:rPr lang="en-IN" smtClean="0"/>
              <a:pPr/>
              <a:t>12</a:t>
            </a:fld>
            <a:endParaRPr lang="en-IN" dirty="0"/>
          </a:p>
        </p:txBody>
      </p:sp>
      <p:pic>
        <p:nvPicPr>
          <p:cNvPr id="7" name="Picture 6">
            <a:extLst>
              <a:ext uri="{FF2B5EF4-FFF2-40B4-BE49-F238E27FC236}">
                <a16:creationId xmlns:a16="http://schemas.microsoft.com/office/drawing/2014/main" id="{7EBE5250-709B-13E9-298A-5E41C0850B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0115" y="1694566"/>
            <a:ext cx="5739886" cy="4304915"/>
          </a:xfrm>
          <a:prstGeom prst="rect">
            <a:avLst/>
          </a:prstGeom>
        </p:spPr>
      </p:pic>
      <p:sp>
        <p:nvSpPr>
          <p:cNvPr id="8" name="TextBox 7">
            <a:extLst>
              <a:ext uri="{FF2B5EF4-FFF2-40B4-BE49-F238E27FC236}">
                <a16:creationId xmlns:a16="http://schemas.microsoft.com/office/drawing/2014/main" id="{B134397B-126F-B0E9-AFB4-3016C233AC03}"/>
              </a:ext>
            </a:extLst>
          </p:cNvPr>
          <p:cNvSpPr txBox="1"/>
          <p:nvPr/>
        </p:nvSpPr>
        <p:spPr>
          <a:xfrm>
            <a:off x="6230114" y="5999481"/>
            <a:ext cx="5739886"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2: Experimental Setup of the System </a:t>
            </a:r>
          </a:p>
        </p:txBody>
      </p:sp>
    </p:spTree>
    <p:extLst>
      <p:ext uri="{BB962C8B-B14F-4D97-AF65-F5344CB8AC3E}">
        <p14:creationId xmlns:p14="http://schemas.microsoft.com/office/powerpoint/2010/main" val="352262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29A56-FB3F-C7BD-0FC5-A46EBEE07DD6}"/>
              </a:ext>
            </a:extLst>
          </p:cNvPr>
          <p:cNvSpPr>
            <a:spLocks noGrp="1"/>
          </p:cNvSpPr>
          <p:nvPr>
            <p:ph type="title"/>
          </p:nvPr>
        </p:nvSpPr>
        <p:spPr/>
        <p:txBody>
          <a:bodyPr/>
          <a:lstStyle/>
          <a:p>
            <a:r>
              <a:rPr lang="en-IN" dirty="0"/>
              <a:t>Results and Discussion</a:t>
            </a:r>
          </a:p>
        </p:txBody>
      </p:sp>
      <p:sp>
        <p:nvSpPr>
          <p:cNvPr id="3" name="Content Placeholder 2">
            <a:extLst>
              <a:ext uri="{FF2B5EF4-FFF2-40B4-BE49-F238E27FC236}">
                <a16:creationId xmlns:a16="http://schemas.microsoft.com/office/drawing/2014/main" id="{96EA2827-B8DC-6B99-5B3E-798E92EC5B5A}"/>
              </a:ext>
            </a:extLst>
          </p:cNvPr>
          <p:cNvSpPr>
            <a:spLocks noGrp="1"/>
          </p:cNvSpPr>
          <p:nvPr>
            <p:ph sz="half" idx="1"/>
          </p:nvPr>
        </p:nvSpPr>
        <p:spPr>
          <a:xfrm>
            <a:off x="180000" y="1461808"/>
            <a:ext cx="6723720" cy="5061047"/>
          </a:xfrm>
        </p:spPr>
        <p:txBody>
          <a:bodyPr numCol="1">
            <a:noAutofit/>
          </a:bodyPr>
          <a:lstStyle/>
          <a:p>
            <a:pPr marL="0" indent="0">
              <a:buNone/>
            </a:pPr>
            <a:r>
              <a:rPr lang="en-US" sz="2000" dirty="0"/>
              <a:t>Experimental Results</a:t>
            </a:r>
          </a:p>
          <a:p>
            <a:pPr algn="just"/>
            <a:r>
              <a:rPr lang="en-US" sz="2000" b="0" dirty="0"/>
              <a:t>The PMFC prototype validating bioelectricity generation from plant–soil interaction. </a:t>
            </a:r>
          </a:p>
          <a:p>
            <a:pPr algn="just"/>
            <a:r>
              <a:rPr lang="en-US" sz="2000" b="0" dirty="0"/>
              <a:t>The stem impedance-based sensing system successfully detected variations in plant water content.</a:t>
            </a:r>
          </a:p>
          <a:p>
            <a:pPr algn="just"/>
            <a:r>
              <a:rPr lang="en-US" sz="2000" b="0" dirty="0"/>
              <a:t>Environmental parameters such as temperature, humidity, and light intensity were continuously monitored. </a:t>
            </a:r>
          </a:p>
          <a:p>
            <a:pPr algn="just"/>
            <a:r>
              <a:rPr lang="en-US" sz="2000" b="0" dirty="0"/>
              <a:t>Real-time data was transmitted to the </a:t>
            </a:r>
            <a:r>
              <a:rPr lang="en-US" sz="2000" b="0" dirty="0" err="1"/>
              <a:t>ThingSpeak</a:t>
            </a:r>
            <a:r>
              <a:rPr lang="en-US" sz="2000" b="0" dirty="0"/>
              <a:t> IoT platform, enabling live visualization of system parameters. </a:t>
            </a:r>
          </a:p>
          <a:p>
            <a:pPr algn="just"/>
            <a:r>
              <a:rPr lang="en-US" sz="2000" b="0" dirty="0"/>
              <a:t>The automatic irrigation system was activated when plant stress exceeded the predefined threshold.</a:t>
            </a:r>
          </a:p>
        </p:txBody>
      </p:sp>
      <p:sp>
        <p:nvSpPr>
          <p:cNvPr id="4" name="Footer Placeholder 3">
            <a:extLst>
              <a:ext uri="{FF2B5EF4-FFF2-40B4-BE49-F238E27FC236}">
                <a16:creationId xmlns:a16="http://schemas.microsoft.com/office/drawing/2014/main" id="{B10E52B8-4B2E-C75B-8CC2-9F4518E59DF7}"/>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7DDC08AC-E500-377D-68FA-7B25ED161C47}"/>
              </a:ext>
            </a:extLst>
          </p:cNvPr>
          <p:cNvSpPr>
            <a:spLocks noGrp="1"/>
          </p:cNvSpPr>
          <p:nvPr>
            <p:ph type="sldNum" sz="quarter" idx="12"/>
          </p:nvPr>
        </p:nvSpPr>
        <p:spPr/>
        <p:txBody>
          <a:bodyPr/>
          <a:lstStyle/>
          <a:p>
            <a:fld id="{EEC824EF-4F39-42CE-B61A-92299691A099}" type="slidenum">
              <a:rPr lang="en-IN" smtClean="0"/>
              <a:pPr/>
              <a:t>13</a:t>
            </a:fld>
            <a:endParaRPr lang="en-IN" dirty="0"/>
          </a:p>
        </p:txBody>
      </p:sp>
      <p:pic>
        <p:nvPicPr>
          <p:cNvPr id="7" name="Picture 6">
            <a:extLst>
              <a:ext uri="{FF2B5EF4-FFF2-40B4-BE49-F238E27FC236}">
                <a16:creationId xmlns:a16="http://schemas.microsoft.com/office/drawing/2014/main" id="{387D61FF-D991-0E04-CECE-5E22ED6DCF33}"/>
              </a:ext>
            </a:extLst>
          </p:cNvPr>
          <p:cNvPicPr>
            <a:picLocks noChangeAspect="1"/>
          </p:cNvPicPr>
          <p:nvPr/>
        </p:nvPicPr>
        <p:blipFill>
          <a:blip r:embed="rId2"/>
          <a:stretch>
            <a:fillRect/>
          </a:stretch>
        </p:blipFill>
        <p:spPr>
          <a:xfrm>
            <a:off x="7122191" y="1627631"/>
            <a:ext cx="4847809" cy="4537663"/>
          </a:xfrm>
          <a:prstGeom prst="rect">
            <a:avLst/>
          </a:prstGeom>
        </p:spPr>
      </p:pic>
      <p:sp>
        <p:nvSpPr>
          <p:cNvPr id="8" name="TextBox 7">
            <a:extLst>
              <a:ext uri="{FF2B5EF4-FFF2-40B4-BE49-F238E27FC236}">
                <a16:creationId xmlns:a16="http://schemas.microsoft.com/office/drawing/2014/main" id="{D3581F8B-CD14-4787-D105-D982B32D3808}"/>
              </a:ext>
            </a:extLst>
          </p:cNvPr>
          <p:cNvSpPr txBox="1"/>
          <p:nvPr/>
        </p:nvSpPr>
        <p:spPr>
          <a:xfrm>
            <a:off x="7400576" y="6139087"/>
            <a:ext cx="4569424"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3: ThingSpeak Graphs</a:t>
            </a:r>
          </a:p>
        </p:txBody>
      </p:sp>
    </p:spTree>
    <p:extLst>
      <p:ext uri="{BB962C8B-B14F-4D97-AF65-F5344CB8AC3E}">
        <p14:creationId xmlns:p14="http://schemas.microsoft.com/office/powerpoint/2010/main" val="1449438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F73AB-9D95-325F-2302-5EE22127FC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B8676-5AF5-D8A6-877B-B4B99A888AA9}"/>
              </a:ext>
            </a:extLst>
          </p:cNvPr>
          <p:cNvSpPr>
            <a:spLocks noGrp="1"/>
          </p:cNvSpPr>
          <p:nvPr>
            <p:ph type="title"/>
          </p:nvPr>
        </p:nvSpPr>
        <p:spPr/>
        <p:txBody>
          <a:bodyPr/>
          <a:lstStyle/>
          <a:p>
            <a:r>
              <a:rPr lang="en-IN" dirty="0"/>
              <a:t>Results and Discussion</a:t>
            </a:r>
          </a:p>
        </p:txBody>
      </p:sp>
      <p:sp>
        <p:nvSpPr>
          <p:cNvPr id="3" name="Content Placeholder 2">
            <a:extLst>
              <a:ext uri="{FF2B5EF4-FFF2-40B4-BE49-F238E27FC236}">
                <a16:creationId xmlns:a16="http://schemas.microsoft.com/office/drawing/2014/main" id="{58D9A940-9834-D8A7-073D-C129C37F6110}"/>
              </a:ext>
            </a:extLst>
          </p:cNvPr>
          <p:cNvSpPr>
            <a:spLocks noGrp="1"/>
          </p:cNvSpPr>
          <p:nvPr>
            <p:ph sz="half" idx="1"/>
          </p:nvPr>
        </p:nvSpPr>
        <p:spPr>
          <a:xfrm>
            <a:off x="180000" y="1461808"/>
            <a:ext cx="6723720" cy="5061047"/>
          </a:xfrm>
        </p:spPr>
        <p:txBody>
          <a:bodyPr numCol="1">
            <a:noAutofit/>
          </a:bodyPr>
          <a:lstStyle/>
          <a:p>
            <a:pPr marL="0" indent="0" algn="just">
              <a:buNone/>
            </a:pPr>
            <a:r>
              <a:rPr lang="en-US" sz="1600" dirty="0"/>
              <a:t>System Performance Analysis</a:t>
            </a:r>
          </a:p>
          <a:p>
            <a:pPr algn="just"/>
            <a:r>
              <a:rPr lang="en-US" sz="1600" b="0" dirty="0"/>
              <a:t>The system demonstrated stable operation using hybrid renewable energy (Solar + PMFC). </a:t>
            </a:r>
          </a:p>
          <a:p>
            <a:pPr algn="just"/>
            <a:r>
              <a:rPr lang="en-US" sz="1600" b="0" dirty="0"/>
              <a:t>Real-time monitoring was successfully achieved with minimal delay. </a:t>
            </a:r>
          </a:p>
          <a:p>
            <a:pPr algn="just"/>
            <a:r>
              <a:rPr lang="en-US" sz="1600" b="0" dirty="0"/>
              <a:t>The sensing mechanism provided early indication of plant water stress compared to visual observation. </a:t>
            </a:r>
          </a:p>
          <a:p>
            <a:pPr algn="just"/>
            <a:r>
              <a:rPr lang="en-US" sz="1600" b="0" dirty="0"/>
              <a:t>The IoT dashboard enabled continuous tracking and analysis of plant and environmental conditions. </a:t>
            </a:r>
          </a:p>
          <a:p>
            <a:pPr marL="0" indent="0" algn="just">
              <a:buNone/>
            </a:pPr>
            <a:r>
              <a:rPr lang="en-US" sz="1600" dirty="0"/>
              <a:t>Discussion</a:t>
            </a:r>
          </a:p>
          <a:p>
            <a:pPr algn="just"/>
            <a:r>
              <a:rPr lang="en-US" sz="1600" b="0" dirty="0"/>
              <a:t>The integration of plant-based sensing with IoT proved effective for smart agriculture applications. </a:t>
            </a:r>
          </a:p>
          <a:p>
            <a:pPr algn="just"/>
            <a:r>
              <a:rPr lang="en-US" sz="1600" b="0" dirty="0"/>
              <a:t>The use of PMFC as a supplementary power source enhances sustainability, although output is low. </a:t>
            </a:r>
          </a:p>
          <a:p>
            <a:pPr algn="just"/>
            <a:r>
              <a:rPr lang="en-US" sz="1600" b="0" dirty="0"/>
              <a:t>Variations in environmental conditions slightly influenced readings, indicating the need for calibration. </a:t>
            </a:r>
          </a:p>
          <a:p>
            <a:pPr algn="just"/>
            <a:r>
              <a:rPr lang="en-US" sz="1600" b="0" dirty="0"/>
              <a:t>The system successfully demonstrates a low-cost, eco-friendly, and automated irrigation solution.</a:t>
            </a:r>
          </a:p>
        </p:txBody>
      </p:sp>
      <p:sp>
        <p:nvSpPr>
          <p:cNvPr id="4" name="Footer Placeholder 3">
            <a:extLst>
              <a:ext uri="{FF2B5EF4-FFF2-40B4-BE49-F238E27FC236}">
                <a16:creationId xmlns:a16="http://schemas.microsoft.com/office/drawing/2014/main" id="{8D78949B-AEF4-B5E0-247F-3EF5520A2003}"/>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9048E60B-4F76-C2E9-03CF-81E9275BE098}"/>
              </a:ext>
            </a:extLst>
          </p:cNvPr>
          <p:cNvSpPr>
            <a:spLocks noGrp="1"/>
          </p:cNvSpPr>
          <p:nvPr>
            <p:ph type="sldNum" sz="quarter" idx="12"/>
          </p:nvPr>
        </p:nvSpPr>
        <p:spPr/>
        <p:txBody>
          <a:bodyPr/>
          <a:lstStyle/>
          <a:p>
            <a:fld id="{EEC824EF-4F39-42CE-B61A-92299691A099}" type="slidenum">
              <a:rPr lang="en-IN" smtClean="0"/>
              <a:pPr/>
              <a:t>14</a:t>
            </a:fld>
            <a:endParaRPr lang="en-IN" dirty="0"/>
          </a:p>
        </p:txBody>
      </p:sp>
      <p:pic>
        <p:nvPicPr>
          <p:cNvPr id="8" name="Picture 7">
            <a:extLst>
              <a:ext uri="{FF2B5EF4-FFF2-40B4-BE49-F238E27FC236}">
                <a16:creationId xmlns:a16="http://schemas.microsoft.com/office/drawing/2014/main" id="{440E26DB-FB97-667C-8CCD-F862BA765918}"/>
              </a:ext>
            </a:extLst>
          </p:cNvPr>
          <p:cNvPicPr>
            <a:picLocks noChangeAspect="1"/>
          </p:cNvPicPr>
          <p:nvPr/>
        </p:nvPicPr>
        <p:blipFill>
          <a:blip r:embed="rId2">
            <a:extLst>
              <a:ext uri="{28A0092B-C50C-407E-A947-70E740481C1C}">
                <a14:useLocalDpi xmlns:a14="http://schemas.microsoft.com/office/drawing/2010/main" val="0"/>
              </a:ext>
            </a:extLst>
          </a:blip>
          <a:srcRect t="23467"/>
          <a:stretch>
            <a:fillRect/>
          </a:stretch>
        </p:blipFill>
        <p:spPr>
          <a:xfrm>
            <a:off x="7400576" y="1461808"/>
            <a:ext cx="4569424" cy="4662843"/>
          </a:xfrm>
          <a:prstGeom prst="rect">
            <a:avLst/>
          </a:prstGeom>
        </p:spPr>
      </p:pic>
      <p:sp>
        <p:nvSpPr>
          <p:cNvPr id="9" name="TextBox 8">
            <a:extLst>
              <a:ext uri="{FF2B5EF4-FFF2-40B4-BE49-F238E27FC236}">
                <a16:creationId xmlns:a16="http://schemas.microsoft.com/office/drawing/2014/main" id="{F26EDF0B-E6DC-72A5-1D03-0ACB3D1419B6}"/>
              </a:ext>
            </a:extLst>
          </p:cNvPr>
          <p:cNvSpPr txBox="1"/>
          <p:nvPr/>
        </p:nvSpPr>
        <p:spPr>
          <a:xfrm>
            <a:off x="7400576" y="6139087"/>
            <a:ext cx="4569424"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4: Plant-Based Sensing </a:t>
            </a:r>
          </a:p>
        </p:txBody>
      </p:sp>
    </p:spTree>
    <p:extLst>
      <p:ext uri="{BB962C8B-B14F-4D97-AF65-F5344CB8AC3E}">
        <p14:creationId xmlns:p14="http://schemas.microsoft.com/office/powerpoint/2010/main" val="1783250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7F5195-B4B9-DE71-EF03-43EFA036ED38}"/>
              </a:ext>
            </a:extLst>
          </p:cNvPr>
          <p:cNvSpPr>
            <a:spLocks noGrp="1"/>
          </p:cNvSpPr>
          <p:nvPr>
            <p:ph type="title"/>
          </p:nvPr>
        </p:nvSpPr>
        <p:spPr/>
        <p:txBody>
          <a:bodyPr/>
          <a:lstStyle/>
          <a:p>
            <a:r>
              <a:rPr lang="en-IN" dirty="0"/>
              <a:t>Conclusion and Future Scope</a:t>
            </a:r>
          </a:p>
        </p:txBody>
      </p:sp>
      <p:sp>
        <p:nvSpPr>
          <p:cNvPr id="3" name="Content Placeholder 2">
            <a:extLst>
              <a:ext uri="{FF2B5EF4-FFF2-40B4-BE49-F238E27FC236}">
                <a16:creationId xmlns:a16="http://schemas.microsoft.com/office/drawing/2014/main" id="{C598E29D-3AF9-F722-B755-68D69540B246}"/>
              </a:ext>
            </a:extLst>
          </p:cNvPr>
          <p:cNvSpPr>
            <a:spLocks noGrp="1"/>
          </p:cNvSpPr>
          <p:nvPr>
            <p:ph sz="half" idx="1"/>
          </p:nvPr>
        </p:nvSpPr>
        <p:spPr>
          <a:xfrm>
            <a:off x="180000" y="1461809"/>
            <a:ext cx="5992200" cy="4922058"/>
          </a:xfrm>
        </p:spPr>
        <p:txBody>
          <a:bodyPr>
            <a:normAutofit lnSpcReduction="10000"/>
          </a:bodyPr>
          <a:lstStyle/>
          <a:p>
            <a:pPr marL="0" indent="0" algn="just">
              <a:buNone/>
            </a:pPr>
            <a:r>
              <a:rPr lang="en-US" sz="2000" dirty="0"/>
              <a:t>Conclusion</a:t>
            </a:r>
          </a:p>
          <a:p>
            <a:pPr algn="just"/>
            <a:r>
              <a:rPr lang="en-US" sz="2000" b="0" dirty="0"/>
              <a:t>A renewable energy powered IoT system for plant water stress monitoring was successfully designed and implemented. </a:t>
            </a:r>
          </a:p>
          <a:p>
            <a:pPr algn="just"/>
            <a:r>
              <a:rPr lang="en-US" sz="2000" b="0" dirty="0"/>
              <a:t>The system uses plant stem impedance sensing to directly measure plant water stress in real time. </a:t>
            </a:r>
          </a:p>
          <a:p>
            <a:pPr algn="just"/>
            <a:r>
              <a:rPr lang="en-US" sz="2000" b="0" dirty="0"/>
              <a:t>A hybrid energy system (Solar + PMFC) was developed to ensure sustainable and battery-free operation. </a:t>
            </a:r>
          </a:p>
          <a:p>
            <a:pPr algn="just"/>
            <a:r>
              <a:rPr lang="en-US" sz="2000" b="0" dirty="0"/>
              <a:t>Integration of ESP8266 and </a:t>
            </a:r>
            <a:r>
              <a:rPr lang="en-US" sz="2000" b="0" dirty="0" err="1"/>
              <a:t>ThingSpeak</a:t>
            </a:r>
            <a:r>
              <a:rPr lang="en-US" sz="2000" b="0" dirty="0"/>
              <a:t> enabled real-time data monitoring and visualization. </a:t>
            </a:r>
          </a:p>
          <a:p>
            <a:pPr algn="just"/>
            <a:r>
              <a:rPr lang="en-US" sz="2000" b="0" dirty="0"/>
              <a:t>The system demonstrated automatic irrigation control, improving water efficiency. </a:t>
            </a:r>
          </a:p>
          <a:p>
            <a:pPr algn="just"/>
            <a:r>
              <a:rPr lang="en-US" sz="2000" b="0" dirty="0"/>
              <a:t>Overall, the project provides a low-cost, eco-friendly, and smart solution for precision agriculture. </a:t>
            </a:r>
          </a:p>
        </p:txBody>
      </p:sp>
      <p:sp>
        <p:nvSpPr>
          <p:cNvPr id="4" name="Footer Placeholder 3">
            <a:extLst>
              <a:ext uri="{FF2B5EF4-FFF2-40B4-BE49-F238E27FC236}">
                <a16:creationId xmlns:a16="http://schemas.microsoft.com/office/drawing/2014/main" id="{921D9DC7-685C-EA8E-100D-AE3669301CE9}"/>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1F11B816-CCAD-9513-580D-2FABDA7C1FF9}"/>
              </a:ext>
            </a:extLst>
          </p:cNvPr>
          <p:cNvSpPr>
            <a:spLocks noGrp="1"/>
          </p:cNvSpPr>
          <p:nvPr>
            <p:ph type="sldNum" sz="quarter" idx="12"/>
          </p:nvPr>
        </p:nvSpPr>
        <p:spPr/>
        <p:txBody>
          <a:bodyPr/>
          <a:lstStyle/>
          <a:p>
            <a:fld id="{EEC824EF-4F39-42CE-B61A-92299691A099}" type="slidenum">
              <a:rPr lang="en-IN" smtClean="0"/>
              <a:pPr/>
              <a:t>15</a:t>
            </a:fld>
            <a:endParaRPr lang="en-IN" dirty="0"/>
          </a:p>
        </p:txBody>
      </p:sp>
      <p:pic>
        <p:nvPicPr>
          <p:cNvPr id="7" name="Picture 6">
            <a:extLst>
              <a:ext uri="{FF2B5EF4-FFF2-40B4-BE49-F238E27FC236}">
                <a16:creationId xmlns:a16="http://schemas.microsoft.com/office/drawing/2014/main" id="{051F8868-D336-E97E-89E6-A1D48BCDFAD3}"/>
              </a:ext>
            </a:extLst>
          </p:cNvPr>
          <p:cNvPicPr>
            <a:picLocks noChangeAspect="1"/>
          </p:cNvPicPr>
          <p:nvPr/>
        </p:nvPicPr>
        <p:blipFill>
          <a:blip r:embed="rId2"/>
          <a:srcRect t="5895"/>
          <a:stretch>
            <a:fillRect/>
          </a:stretch>
        </p:blipFill>
        <p:spPr>
          <a:xfrm>
            <a:off x="6200417" y="2231137"/>
            <a:ext cx="5769583" cy="3054096"/>
          </a:xfrm>
          <a:prstGeom prst="rect">
            <a:avLst/>
          </a:prstGeom>
        </p:spPr>
      </p:pic>
      <p:sp>
        <p:nvSpPr>
          <p:cNvPr id="8" name="TextBox 7">
            <a:extLst>
              <a:ext uri="{FF2B5EF4-FFF2-40B4-BE49-F238E27FC236}">
                <a16:creationId xmlns:a16="http://schemas.microsoft.com/office/drawing/2014/main" id="{9DFED9E8-C401-FAB1-5D88-8D470CC52966}"/>
              </a:ext>
            </a:extLst>
          </p:cNvPr>
          <p:cNvSpPr txBox="1"/>
          <p:nvPr/>
        </p:nvSpPr>
        <p:spPr>
          <a:xfrm>
            <a:off x="6200417" y="5424221"/>
            <a:ext cx="5769583"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5: Web-Based Monitoring Interface</a:t>
            </a:r>
          </a:p>
        </p:txBody>
      </p:sp>
    </p:spTree>
    <p:extLst>
      <p:ext uri="{BB962C8B-B14F-4D97-AF65-F5344CB8AC3E}">
        <p14:creationId xmlns:p14="http://schemas.microsoft.com/office/powerpoint/2010/main" val="12246193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05FA5-7521-9F97-2B11-AD2C835B4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8830A-F8F5-D150-D5F3-C404749EC25C}"/>
              </a:ext>
            </a:extLst>
          </p:cNvPr>
          <p:cNvSpPr>
            <a:spLocks noGrp="1"/>
          </p:cNvSpPr>
          <p:nvPr>
            <p:ph type="title"/>
          </p:nvPr>
        </p:nvSpPr>
        <p:spPr/>
        <p:txBody>
          <a:bodyPr/>
          <a:lstStyle/>
          <a:p>
            <a:r>
              <a:rPr lang="en-IN" dirty="0"/>
              <a:t>Conclusion and Future Scope</a:t>
            </a:r>
          </a:p>
        </p:txBody>
      </p:sp>
      <p:sp>
        <p:nvSpPr>
          <p:cNvPr id="3" name="Content Placeholder 2">
            <a:extLst>
              <a:ext uri="{FF2B5EF4-FFF2-40B4-BE49-F238E27FC236}">
                <a16:creationId xmlns:a16="http://schemas.microsoft.com/office/drawing/2014/main" id="{7BE9793D-09B0-567A-A237-ED043EDFDD41}"/>
              </a:ext>
            </a:extLst>
          </p:cNvPr>
          <p:cNvSpPr>
            <a:spLocks noGrp="1"/>
          </p:cNvSpPr>
          <p:nvPr>
            <p:ph sz="half" idx="1"/>
          </p:nvPr>
        </p:nvSpPr>
        <p:spPr>
          <a:xfrm>
            <a:off x="180000" y="1461809"/>
            <a:ext cx="5992200" cy="4922058"/>
          </a:xfrm>
        </p:spPr>
        <p:txBody>
          <a:bodyPr>
            <a:normAutofit/>
          </a:bodyPr>
          <a:lstStyle/>
          <a:p>
            <a:pPr marL="0" indent="0" algn="just">
              <a:buNone/>
            </a:pPr>
            <a:r>
              <a:rPr lang="en-US" sz="2000" dirty="0"/>
              <a:t>Future Scope</a:t>
            </a:r>
          </a:p>
          <a:p>
            <a:pPr algn="just"/>
            <a:r>
              <a:rPr lang="en-US" sz="2000" b="0" dirty="0"/>
              <a:t>Integration of Machine Learning models for predictive water stress analysis. </a:t>
            </a:r>
          </a:p>
          <a:p>
            <a:pPr algn="just"/>
            <a:r>
              <a:rPr lang="en-US" sz="2000" b="0" dirty="0"/>
              <a:t>Development of a mobile application for user-friendly monitoring and control. </a:t>
            </a:r>
          </a:p>
          <a:p>
            <a:pPr algn="just"/>
            <a:r>
              <a:rPr lang="en-US" sz="2000" b="0" dirty="0"/>
              <a:t>Enhancement of PMFC efficiency using advanced electrode materials (carbon-based / nano-materials). </a:t>
            </a:r>
          </a:p>
          <a:p>
            <a:pPr algn="just"/>
            <a:r>
              <a:rPr lang="en-US" sz="2000" b="0" dirty="0"/>
              <a:t>Expansion to large-scale farm deployment using long-range communication (LoRa/5G). </a:t>
            </a:r>
          </a:p>
          <a:p>
            <a:pPr algn="just"/>
            <a:r>
              <a:rPr lang="en-US" sz="2000" b="0" dirty="0"/>
              <a:t>Addition of more sensors (soil nutrients, pH, CO₂) for comprehensive plant health monitoring. </a:t>
            </a:r>
          </a:p>
          <a:p>
            <a:pPr algn="just"/>
            <a:r>
              <a:rPr lang="en-US" sz="2000" b="0" dirty="0"/>
              <a:t>Implementation of fully automated irrigation systems with intelligent decision-making. </a:t>
            </a:r>
          </a:p>
        </p:txBody>
      </p:sp>
      <p:sp>
        <p:nvSpPr>
          <p:cNvPr id="4" name="Footer Placeholder 3">
            <a:extLst>
              <a:ext uri="{FF2B5EF4-FFF2-40B4-BE49-F238E27FC236}">
                <a16:creationId xmlns:a16="http://schemas.microsoft.com/office/drawing/2014/main" id="{2B26B229-C4CE-9DCA-135D-8BB62FD92B85}"/>
              </a:ext>
            </a:extLst>
          </p:cNvPr>
          <p:cNvSpPr>
            <a:spLocks noGrp="1"/>
          </p:cNvSpPr>
          <p:nvPr>
            <p:ph type="ftr" sz="quarter" idx="11"/>
          </p:nvPr>
        </p:nvSpPr>
        <p:spPr/>
        <p:txBody>
          <a:bodyPr/>
          <a:lstStyle/>
          <a:p>
            <a:r>
              <a:rPr lang="en-IN"/>
              <a:t>Department of Electronics &amp; Instrumentation Engineering, VNRVJIET</a:t>
            </a:r>
            <a:endParaRPr lang="en-IN" dirty="0"/>
          </a:p>
        </p:txBody>
      </p:sp>
      <p:sp>
        <p:nvSpPr>
          <p:cNvPr id="5" name="Slide Number Placeholder 4">
            <a:extLst>
              <a:ext uri="{FF2B5EF4-FFF2-40B4-BE49-F238E27FC236}">
                <a16:creationId xmlns:a16="http://schemas.microsoft.com/office/drawing/2014/main" id="{A39529CB-6C43-AD71-5558-80C20A5E84EB}"/>
              </a:ext>
            </a:extLst>
          </p:cNvPr>
          <p:cNvSpPr>
            <a:spLocks noGrp="1"/>
          </p:cNvSpPr>
          <p:nvPr>
            <p:ph type="sldNum" sz="quarter" idx="12"/>
          </p:nvPr>
        </p:nvSpPr>
        <p:spPr/>
        <p:txBody>
          <a:bodyPr/>
          <a:lstStyle/>
          <a:p>
            <a:fld id="{EEC824EF-4F39-42CE-B61A-92299691A099}" type="slidenum">
              <a:rPr lang="en-IN" smtClean="0"/>
              <a:pPr/>
              <a:t>16</a:t>
            </a:fld>
            <a:endParaRPr lang="en-IN" dirty="0"/>
          </a:p>
        </p:txBody>
      </p:sp>
      <p:pic>
        <p:nvPicPr>
          <p:cNvPr id="7" name="Picture 6">
            <a:extLst>
              <a:ext uri="{FF2B5EF4-FFF2-40B4-BE49-F238E27FC236}">
                <a16:creationId xmlns:a16="http://schemas.microsoft.com/office/drawing/2014/main" id="{CE8D2EE3-A41F-6842-16B0-B65ED49910F6}"/>
              </a:ext>
            </a:extLst>
          </p:cNvPr>
          <p:cNvPicPr>
            <a:picLocks noChangeAspect="1"/>
          </p:cNvPicPr>
          <p:nvPr/>
        </p:nvPicPr>
        <p:blipFill>
          <a:blip r:embed="rId2"/>
          <a:srcRect l="1820" t="12739" r="16825" b="2933"/>
          <a:stretch>
            <a:fillRect/>
          </a:stretch>
        </p:blipFill>
        <p:spPr>
          <a:xfrm>
            <a:off x="6273410" y="1939303"/>
            <a:ext cx="5738590" cy="3345930"/>
          </a:xfrm>
          <a:prstGeom prst="rect">
            <a:avLst/>
          </a:prstGeom>
        </p:spPr>
      </p:pic>
      <p:sp>
        <p:nvSpPr>
          <p:cNvPr id="8" name="TextBox 7">
            <a:extLst>
              <a:ext uri="{FF2B5EF4-FFF2-40B4-BE49-F238E27FC236}">
                <a16:creationId xmlns:a16="http://schemas.microsoft.com/office/drawing/2014/main" id="{BCA9397D-B3C8-AEDA-3797-08F1ECA5668B}"/>
              </a:ext>
            </a:extLst>
          </p:cNvPr>
          <p:cNvSpPr txBox="1"/>
          <p:nvPr/>
        </p:nvSpPr>
        <p:spPr>
          <a:xfrm>
            <a:off x="6528816" y="5100567"/>
            <a:ext cx="5138928" cy="369332"/>
          </a:xfrm>
          <a:prstGeom prst="rect">
            <a:avLst/>
          </a:prstGeom>
          <a:noFill/>
        </p:spPr>
        <p:txBody>
          <a:bodyPr wrap="square" rtlCol="0">
            <a:spAutoFit/>
          </a:bodyPr>
          <a:lstStyle/>
          <a:p>
            <a:pPr algn="ctr"/>
            <a:r>
              <a:rPr lang="en-IN" b="1" dirty="0">
                <a:latin typeface="Times New Roman" panose="02020603050405020304" pitchFamily="18" charset="0"/>
                <a:cs typeface="Times New Roman" panose="02020603050405020304" pitchFamily="18" charset="0"/>
              </a:rPr>
              <a:t>Figure 6: Plant Moisture Graph</a:t>
            </a:r>
          </a:p>
        </p:txBody>
      </p:sp>
    </p:spTree>
    <p:extLst>
      <p:ext uri="{BB962C8B-B14F-4D97-AF65-F5344CB8AC3E}">
        <p14:creationId xmlns:p14="http://schemas.microsoft.com/office/powerpoint/2010/main" val="42936859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References</a:t>
            </a:r>
          </a:p>
        </p:txBody>
      </p:sp>
      <p:sp>
        <p:nvSpPr>
          <p:cNvPr id="3" name="Content Placeholder 2"/>
          <p:cNvSpPr>
            <a:spLocks noGrp="1"/>
          </p:cNvSpPr>
          <p:nvPr>
            <p:ph idx="1"/>
          </p:nvPr>
        </p:nvSpPr>
        <p:spPr>
          <a:xfrm>
            <a:off x="-1" y="1386598"/>
            <a:ext cx="12192001" cy="5040000"/>
          </a:xfrm>
        </p:spPr>
        <p:txBody>
          <a:bodyPr>
            <a:noAutofit/>
          </a:bodyPr>
          <a:lstStyle/>
          <a:p>
            <a:pPr marL="457200" indent="-457200">
              <a:buFont typeface="+mj-lt"/>
              <a:buAutoNum type="arabicPeriod"/>
            </a:pPr>
            <a:r>
              <a:rPr lang="en-US" sz="1600" b="0" dirty="0" err="1"/>
              <a:t>Garlando</a:t>
            </a:r>
            <a:r>
              <a:rPr lang="en-US" sz="1600" b="0" dirty="0"/>
              <a:t>, U., Calvo, S., </a:t>
            </a:r>
            <a:r>
              <a:rPr lang="en-US" sz="1600" b="0" dirty="0" err="1"/>
              <a:t>Barezzi</a:t>
            </a:r>
            <a:r>
              <a:rPr lang="en-US" sz="1600" b="0" dirty="0"/>
              <a:t>, M., </a:t>
            </a:r>
            <a:r>
              <a:rPr lang="en-US" sz="1600" b="0" dirty="0" err="1"/>
              <a:t>Sanginario</a:t>
            </a:r>
            <a:r>
              <a:rPr lang="en-US" sz="1600" b="0" dirty="0"/>
              <a:t>, A., Ros, P. M., &amp; Demarchi, D. (2023). A “plant-wearable system” for its health monitoring by intra-and interplant communication. </a:t>
            </a:r>
            <a:r>
              <a:rPr lang="en-US" sz="1600" b="0" i="1" dirty="0"/>
              <a:t>IEEE Transactions on </a:t>
            </a:r>
            <a:r>
              <a:rPr lang="en-US" sz="1600" b="0" i="1" dirty="0" err="1"/>
              <a:t>AgriFood</a:t>
            </a:r>
            <a:r>
              <a:rPr lang="en-US" sz="1600" b="0" i="1" dirty="0"/>
              <a:t> Electronics</a:t>
            </a:r>
            <a:r>
              <a:rPr lang="en-US" sz="1600" b="0" dirty="0"/>
              <a:t>, </a:t>
            </a:r>
            <a:r>
              <a:rPr lang="en-US" sz="1600" b="0" i="1" dirty="0"/>
              <a:t>1</a:t>
            </a:r>
            <a:r>
              <a:rPr lang="en-US" sz="1600" b="0" dirty="0"/>
              <a:t>(2), 60-70. [</a:t>
            </a:r>
            <a:r>
              <a:rPr lang="en-US" sz="1600" b="0" dirty="0">
                <a:hlinkClick r:id="rId2"/>
              </a:rPr>
              <a:t>link</a:t>
            </a:r>
            <a:r>
              <a:rPr lang="en-US" sz="1600" b="0" dirty="0"/>
              <a:t>]</a:t>
            </a:r>
          </a:p>
          <a:p>
            <a:pPr marL="457200" indent="-457200">
              <a:buFont typeface="+mj-lt"/>
              <a:buAutoNum type="arabicPeriod"/>
            </a:pPr>
            <a:r>
              <a:rPr lang="en-IN" sz="1600" b="0" dirty="0"/>
              <a:t>Lo, M. (2023, April). Development of Sustainable Hybrid Microbial Fuel Cell (MFC) System from Living Plants for Low-power Field Electronic Devices. In </a:t>
            </a:r>
            <a:r>
              <a:rPr lang="en-IN" sz="1600" b="0" i="1" dirty="0"/>
              <a:t>2023 IEEE Green Technologies Conference (GreenTech)</a:t>
            </a:r>
            <a:r>
              <a:rPr lang="en-IN" sz="1600" b="0" dirty="0"/>
              <a:t> (pp. 154-159). IEEE. [</a:t>
            </a:r>
            <a:r>
              <a:rPr lang="en-IN" sz="1600" b="0" dirty="0">
                <a:hlinkClick r:id="rId3"/>
              </a:rPr>
              <a:t>link</a:t>
            </a:r>
            <a:r>
              <a:rPr lang="en-IN" sz="1600" b="0" dirty="0"/>
              <a:t>]</a:t>
            </a:r>
          </a:p>
          <a:p>
            <a:pPr marL="457200" indent="-457200">
              <a:buFont typeface="+mj-lt"/>
              <a:buAutoNum type="arabicPeriod"/>
            </a:pPr>
            <a:r>
              <a:rPr lang="en-IN" sz="1600" b="0" dirty="0"/>
              <a:t>Chong, P. L., Chuah, J. H., Chow, C. O., &amp; Ng, P. K. (2025). Plant microbial fuel cells: A comprehensive review of influential factors, innovative configurations, diverse applications, persistent challenges, and promising prospects. </a:t>
            </a:r>
            <a:r>
              <a:rPr lang="en-IN" sz="1600" b="0" i="1" dirty="0"/>
              <a:t>International Journal of Green Energy</a:t>
            </a:r>
            <a:r>
              <a:rPr lang="en-IN" sz="1600" b="0" dirty="0"/>
              <a:t>, </a:t>
            </a:r>
            <a:r>
              <a:rPr lang="en-IN" sz="1600" b="0" i="1" dirty="0"/>
              <a:t>22</a:t>
            </a:r>
            <a:r>
              <a:rPr lang="en-IN" sz="1600" b="0" dirty="0"/>
              <a:t>(3), 599-648. [</a:t>
            </a:r>
            <a:r>
              <a:rPr lang="en-IN" sz="1600" b="0" dirty="0">
                <a:hlinkClick r:id="rId4"/>
              </a:rPr>
              <a:t>link</a:t>
            </a:r>
            <a:r>
              <a:rPr lang="en-IN" sz="1600" b="0" dirty="0"/>
              <a:t>]</a:t>
            </a:r>
          </a:p>
          <a:p>
            <a:pPr marL="457200" indent="-457200">
              <a:buFont typeface="+mj-lt"/>
              <a:buAutoNum type="arabicPeriod"/>
            </a:pPr>
            <a:r>
              <a:rPr lang="en-IN" sz="1600" b="0" dirty="0" err="1"/>
              <a:t>Nitisoravut</a:t>
            </a:r>
            <a:r>
              <a:rPr lang="en-IN" sz="1600" b="0" dirty="0"/>
              <a:t>, R., &amp; Regmi, R. (2017). Plant microbial fuel cells: A promising biosystems engineering. </a:t>
            </a:r>
            <a:r>
              <a:rPr lang="en-IN" sz="1600" b="0" i="1" dirty="0"/>
              <a:t>Renewable and Sustainable Energy Reviews</a:t>
            </a:r>
            <a:r>
              <a:rPr lang="en-IN" sz="1600" b="0" dirty="0"/>
              <a:t>, </a:t>
            </a:r>
            <a:r>
              <a:rPr lang="en-IN" sz="1600" b="0" i="1" dirty="0"/>
              <a:t>76</a:t>
            </a:r>
            <a:r>
              <a:rPr lang="en-IN" sz="1600" b="0" dirty="0"/>
              <a:t>, 81-89.[</a:t>
            </a:r>
            <a:r>
              <a:rPr lang="en-IN" sz="1600" b="0" dirty="0">
                <a:hlinkClick r:id="rId5"/>
              </a:rPr>
              <a:t>link</a:t>
            </a:r>
            <a:r>
              <a:rPr lang="en-IN" sz="1600" b="0" dirty="0"/>
              <a:t>]</a:t>
            </a:r>
          </a:p>
          <a:p>
            <a:pPr marL="457200" indent="-457200">
              <a:buFont typeface="+mj-lt"/>
              <a:buAutoNum type="arabicPeriod"/>
            </a:pPr>
            <a:r>
              <a:rPr lang="en-IN" sz="1600" b="0" dirty="0"/>
              <a:t>Angelini, F. (2021). </a:t>
            </a:r>
            <a:r>
              <a:rPr lang="en-IN" sz="1600" b="0" i="1" dirty="0"/>
              <a:t>Development of an autonomous plant monitoring system based on Plant Microbial Fuel Cells</a:t>
            </a:r>
            <a:r>
              <a:rPr lang="en-IN" sz="1600" b="0" dirty="0"/>
              <a:t> (Doctoral dissertation, </a:t>
            </a:r>
            <a:r>
              <a:rPr lang="en-IN" sz="1600" b="0" dirty="0" err="1"/>
              <a:t>Politecnico</a:t>
            </a:r>
            <a:r>
              <a:rPr lang="en-IN" sz="1600" b="0" dirty="0"/>
              <a:t> di Torino).[</a:t>
            </a:r>
            <a:r>
              <a:rPr lang="en-IN" sz="1600" b="0" dirty="0">
                <a:hlinkClick r:id="rId6"/>
              </a:rPr>
              <a:t>link</a:t>
            </a:r>
            <a:r>
              <a:rPr lang="en-IN" sz="1600" b="0" dirty="0"/>
              <a:t>]</a:t>
            </a:r>
          </a:p>
          <a:p>
            <a:pPr marL="457200" indent="-457200">
              <a:buFont typeface="+mj-lt"/>
              <a:buAutoNum type="arabicPeriod"/>
            </a:pPr>
            <a:r>
              <a:rPr lang="en-US" sz="1600" b="0" dirty="0"/>
              <a:t>Cum, F., Calvo, S., </a:t>
            </a:r>
            <a:r>
              <a:rPr lang="en-US" sz="1600" b="0" dirty="0" err="1"/>
              <a:t>Sanginario</a:t>
            </a:r>
            <a:r>
              <a:rPr lang="en-US" sz="1600" b="0" dirty="0"/>
              <a:t>, A., &amp; </a:t>
            </a:r>
            <a:r>
              <a:rPr lang="en-US" sz="1600" b="0" dirty="0" err="1"/>
              <a:t>Garlando</a:t>
            </a:r>
            <a:r>
              <a:rPr lang="en-US" sz="1600" b="0" dirty="0"/>
              <a:t>, U. (2024). Evaluation of Machine Learning Models for Water Stress Detection Using Stem Impedance. </a:t>
            </a:r>
            <a:r>
              <a:rPr lang="en-US" sz="1600" b="0" i="1" dirty="0"/>
              <a:t>IEEE Transactions on </a:t>
            </a:r>
            <a:r>
              <a:rPr lang="en-US" sz="1600" b="0" i="1" dirty="0" err="1"/>
              <a:t>AgriFood</a:t>
            </a:r>
            <a:r>
              <a:rPr lang="en-US" sz="1600" b="0" i="1" dirty="0"/>
              <a:t> Electronics</a:t>
            </a:r>
            <a:r>
              <a:rPr lang="en-US" sz="1600" b="0" dirty="0"/>
              <a:t>.[</a:t>
            </a:r>
            <a:r>
              <a:rPr lang="en-US" sz="1600" b="0" dirty="0">
                <a:hlinkClick r:id="rId7"/>
              </a:rPr>
              <a:t>link</a:t>
            </a:r>
            <a:r>
              <a:rPr lang="en-US" sz="1600" b="0" dirty="0"/>
              <a:t>]</a:t>
            </a:r>
          </a:p>
          <a:p>
            <a:pPr marL="457200" indent="-457200">
              <a:buFont typeface="+mj-lt"/>
              <a:buAutoNum type="arabicPeriod"/>
            </a:pPr>
            <a:r>
              <a:rPr lang="en-IN" sz="1600" b="0" dirty="0"/>
              <a:t>Brunelli, D., Tosato, P., &amp; Rossi, M. (2016). Flora health wireless monitoring with plant-microbial fuel cell. </a:t>
            </a:r>
            <a:r>
              <a:rPr lang="en-IN" sz="1600" b="0" i="1" dirty="0"/>
              <a:t>Procedia Engineering</a:t>
            </a:r>
            <a:r>
              <a:rPr lang="en-IN" sz="1600" b="0" dirty="0"/>
              <a:t>, </a:t>
            </a:r>
            <a:r>
              <a:rPr lang="en-IN" sz="1600" b="0" i="1" dirty="0"/>
              <a:t>168</a:t>
            </a:r>
            <a:r>
              <a:rPr lang="en-IN" sz="1600" b="0" dirty="0"/>
              <a:t>, 1646-1650.[</a:t>
            </a:r>
            <a:r>
              <a:rPr lang="en-IN" sz="1600" b="0" dirty="0">
                <a:hlinkClick r:id="rId8"/>
              </a:rPr>
              <a:t>link</a:t>
            </a:r>
            <a:r>
              <a:rPr lang="en-IN" sz="1600" b="0" dirty="0"/>
              <a:t>]</a:t>
            </a:r>
          </a:p>
          <a:p>
            <a:pPr marL="457200" indent="-457200">
              <a:buFont typeface="+mj-lt"/>
              <a:buAutoNum type="arabicPeriod"/>
            </a:pPr>
            <a:r>
              <a:rPr lang="en-IN" sz="1600" b="0" dirty="0"/>
              <a:t>Hess, D., González, A., Briones, A., Navarro, J., Groen, D., </a:t>
            </a:r>
            <a:r>
              <a:rPr lang="en-IN" sz="1600" b="0" dirty="0" err="1"/>
              <a:t>Roccotiello</a:t>
            </a:r>
            <a:r>
              <a:rPr lang="en-IN" sz="1600" b="0" dirty="0"/>
              <a:t>, E., &amp; </a:t>
            </a:r>
            <a:r>
              <a:rPr lang="en-IN" sz="1600" b="0" dirty="0" err="1"/>
              <a:t>Conserva</a:t>
            </a:r>
            <a:r>
              <a:rPr lang="en-IN" sz="1600" b="0" dirty="0"/>
              <a:t>, A. (2025, July). Indoor Plant Health Monitoring System using NDVI Imaging, PMFC Sensing and Soil Moisture Data. In </a:t>
            </a:r>
            <a:r>
              <a:rPr lang="en-IN" sz="1600" b="0" i="1" dirty="0"/>
              <a:t>2025 IEEE International Workshop on Metrology for Industry 4.0 &amp; IoT (MetroInd4. 0 &amp; IoT)</a:t>
            </a:r>
            <a:r>
              <a:rPr lang="en-IN" sz="1600" b="0" dirty="0"/>
              <a:t> (pp. 190-195). IEEE.[</a:t>
            </a:r>
            <a:r>
              <a:rPr lang="en-IN" sz="1600" b="0" dirty="0">
                <a:hlinkClick r:id="rId9"/>
              </a:rPr>
              <a:t>link</a:t>
            </a:r>
            <a:r>
              <a:rPr lang="en-IN" sz="1600" b="0" dirty="0"/>
              <a:t>]</a:t>
            </a:r>
            <a:endParaRPr lang="en-IN" sz="1600" dirty="0"/>
          </a:p>
        </p:txBody>
      </p:sp>
      <p:sp>
        <p:nvSpPr>
          <p:cNvPr id="4" name="Slide Number Placeholder 3"/>
          <p:cNvSpPr>
            <a:spLocks noGrp="1"/>
          </p:cNvSpPr>
          <p:nvPr>
            <p:ph type="sldNum" sz="quarter" idx="12"/>
          </p:nvPr>
        </p:nvSpPr>
        <p:spPr/>
        <p:txBody>
          <a:bodyPr/>
          <a:lstStyle/>
          <a:p>
            <a:fld id="{EEC824EF-4F39-42CE-B61A-92299691A099}" type="slidenum">
              <a:rPr lang="en-IN" smtClean="0"/>
              <a:t>17</a:t>
            </a:fld>
            <a:endParaRPr lang="en-IN"/>
          </a:p>
        </p:txBody>
      </p:sp>
      <p:sp>
        <p:nvSpPr>
          <p:cNvPr id="5" name="Footer Placeholder 4"/>
          <p:cNvSpPr>
            <a:spLocks noGrp="1"/>
          </p:cNvSpPr>
          <p:nvPr>
            <p:ph type="ftr" sz="quarter" idx="3"/>
          </p:nvPr>
        </p:nvSpPr>
        <p:spPr/>
        <p:txBody>
          <a:body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2858635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D2F2D-D143-20CC-FA25-10F077A6B1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B1A91-0638-1255-6130-906A4B62F28A}"/>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20250C8D-B2D6-0C48-783E-974279FB8900}"/>
              </a:ext>
            </a:extLst>
          </p:cNvPr>
          <p:cNvSpPr>
            <a:spLocks noGrp="1"/>
          </p:cNvSpPr>
          <p:nvPr>
            <p:ph idx="1"/>
          </p:nvPr>
        </p:nvSpPr>
        <p:spPr>
          <a:xfrm>
            <a:off x="-1" y="1386597"/>
            <a:ext cx="12192001" cy="5136257"/>
          </a:xfrm>
        </p:spPr>
        <p:txBody>
          <a:bodyPr>
            <a:noAutofit/>
          </a:bodyPr>
          <a:lstStyle/>
          <a:p>
            <a:pPr marL="342900" indent="-342900">
              <a:buFont typeface="+mj-lt"/>
              <a:buAutoNum type="arabicPeriod" startAt="9"/>
            </a:pPr>
            <a:r>
              <a:rPr lang="en-IN" sz="1600" b="0" dirty="0"/>
              <a:t>Cum, F., Calvo, S., Demarchi, D., &amp; Garlando, U. (2023, September). Machine learning models comparison for water stress detection     based on stem electrical impedance measurements. In </a:t>
            </a:r>
            <a:r>
              <a:rPr lang="en-IN" sz="1600" b="0" i="1" dirty="0"/>
              <a:t>2023 IEEE Conference on </a:t>
            </a:r>
            <a:r>
              <a:rPr lang="en-IN" sz="1600" b="0" i="1" dirty="0" err="1"/>
              <a:t>AgriFood</a:t>
            </a:r>
            <a:r>
              <a:rPr lang="en-IN" sz="1600" b="0" i="1" dirty="0"/>
              <a:t> Electronics (CAFE)</a:t>
            </a:r>
            <a:r>
              <a:rPr lang="en-IN" sz="1600" b="0" dirty="0"/>
              <a:t> (pp. 108-112). IEEE.[</a:t>
            </a:r>
            <a:r>
              <a:rPr lang="en-IN" sz="1600" b="0" dirty="0">
                <a:hlinkClick r:id="rId2"/>
              </a:rPr>
              <a:t>link</a:t>
            </a:r>
            <a:r>
              <a:rPr lang="en-IN" sz="1600" b="0" dirty="0"/>
              <a:t>]</a:t>
            </a:r>
          </a:p>
          <a:p>
            <a:pPr marL="342900" indent="-342900">
              <a:buFont typeface="+mj-lt"/>
              <a:buAutoNum type="arabicPeriod" startAt="9"/>
            </a:pPr>
            <a:r>
              <a:rPr lang="en-IN" sz="1600" b="0" dirty="0"/>
              <a:t>Ballestas, E. R., </a:t>
            </a:r>
            <a:r>
              <a:rPr lang="en-IN" sz="1600" b="0" dirty="0" err="1"/>
              <a:t>Bortoluzzi</a:t>
            </a:r>
            <a:r>
              <a:rPr lang="en-IN" sz="1600" b="0" dirty="0"/>
              <a:t>, E. C., Minervino, A. H. H., Palma, H. H., Neckel, A., Ramos, C. G., &amp; Moreno-Ríos, A. L. (2024). Power generation potential of plant microbial fuel cells as a renewable energy source. </a:t>
            </a:r>
            <a:r>
              <a:rPr lang="en-IN" sz="1600" b="0" i="1" dirty="0"/>
              <a:t>Renewable Energy</a:t>
            </a:r>
            <a:r>
              <a:rPr lang="en-IN" sz="1600" b="0" dirty="0"/>
              <a:t>, </a:t>
            </a:r>
            <a:r>
              <a:rPr lang="en-IN" sz="1600" b="0" i="1" dirty="0"/>
              <a:t>221</a:t>
            </a:r>
            <a:r>
              <a:rPr lang="en-IN" sz="1600" b="0" dirty="0"/>
              <a:t>, 119799.[</a:t>
            </a:r>
            <a:r>
              <a:rPr lang="en-IN" sz="1600" b="0" dirty="0">
                <a:hlinkClick r:id="rId3"/>
              </a:rPr>
              <a:t>link</a:t>
            </a:r>
            <a:r>
              <a:rPr lang="en-IN" sz="1600" b="0" dirty="0"/>
              <a:t>]</a:t>
            </a:r>
          </a:p>
          <a:p>
            <a:pPr marL="342900" indent="-342900">
              <a:buFont typeface="+mj-lt"/>
              <a:buAutoNum type="arabicPeriod" startAt="9"/>
            </a:pPr>
            <a:r>
              <a:rPr lang="en-US" sz="1600" b="0" dirty="0"/>
              <a:t>Martinez, R. D. R., &amp; Bermudez, M. E. A. (2023). Production of electrical energy from living plants in microbial fuel cells. </a:t>
            </a:r>
            <a:r>
              <a:rPr lang="en-US" sz="1600" b="0" i="1" dirty="0"/>
              <a:t>Clean Energy</a:t>
            </a:r>
            <a:r>
              <a:rPr lang="en-US" sz="1600" b="0" dirty="0"/>
              <a:t>, </a:t>
            </a:r>
            <a:r>
              <a:rPr lang="en-US" sz="1600" b="0" i="1" dirty="0"/>
              <a:t>7</a:t>
            </a:r>
            <a:r>
              <a:rPr lang="en-US" sz="1600" b="0" dirty="0"/>
              <a:t>(2), 408-416.[</a:t>
            </a:r>
            <a:r>
              <a:rPr lang="en-US" sz="1600" b="0" dirty="0">
                <a:hlinkClick r:id="rId4"/>
              </a:rPr>
              <a:t>link</a:t>
            </a:r>
            <a:r>
              <a:rPr lang="en-US" sz="1600" b="0" dirty="0"/>
              <a:t>]</a:t>
            </a:r>
            <a:endParaRPr lang="en-IN" sz="1600" b="0" dirty="0"/>
          </a:p>
          <a:p>
            <a:pPr marL="342900" indent="-342900">
              <a:buFont typeface="+mj-lt"/>
              <a:buAutoNum type="arabicPeriod" startAt="9"/>
            </a:pPr>
            <a:r>
              <a:rPr lang="en-IN" sz="1600" b="0" dirty="0"/>
              <a:t>Reynolds, J., Taggart, M., Martin, D., Lobaton, E., Cardoso, A., Daniele, M., &amp; Bozkurt, A. (2023). Rapid drought stress detection in plants using bioimpedance measurements and analysis. </a:t>
            </a:r>
            <a:r>
              <a:rPr lang="en-IN" sz="1600" b="0" i="1" dirty="0"/>
              <a:t>IEEE Transactions on </a:t>
            </a:r>
            <a:r>
              <a:rPr lang="en-IN" sz="1600" b="0" i="1" dirty="0" err="1"/>
              <a:t>AgriFood</a:t>
            </a:r>
            <a:r>
              <a:rPr lang="en-IN" sz="1600" b="0" i="1" dirty="0"/>
              <a:t> Electronics</a:t>
            </a:r>
            <a:r>
              <a:rPr lang="en-IN" sz="1600" b="0" dirty="0"/>
              <a:t>, </a:t>
            </a:r>
            <a:r>
              <a:rPr lang="en-IN" sz="1600" b="0" i="1" dirty="0"/>
              <a:t>1</a:t>
            </a:r>
            <a:r>
              <a:rPr lang="en-IN" sz="1600" b="0" dirty="0"/>
              <a:t>(2), 135-144.[</a:t>
            </a:r>
            <a:r>
              <a:rPr lang="en-IN" sz="1600" b="0" dirty="0">
                <a:hlinkClick r:id="rId5"/>
              </a:rPr>
              <a:t>link</a:t>
            </a:r>
            <a:r>
              <a:rPr lang="en-IN" sz="1600" b="0" dirty="0"/>
              <a:t>]</a:t>
            </a:r>
          </a:p>
          <a:p>
            <a:pPr marL="342900" indent="-342900">
              <a:buFont typeface="+mj-lt"/>
              <a:buAutoNum type="arabicPeriod" startAt="9"/>
            </a:pPr>
            <a:r>
              <a:rPr lang="en-IN" sz="1600" b="0" dirty="0"/>
              <a:t>Ferré, D., Briones, A., </a:t>
            </a:r>
            <a:r>
              <a:rPr lang="en-IN" sz="1600" b="0" dirty="0" err="1"/>
              <a:t>Zaballos</a:t>
            </a:r>
            <a:r>
              <a:rPr lang="en-IN" sz="1600" b="0" dirty="0"/>
              <a:t>, A., </a:t>
            </a:r>
            <a:r>
              <a:rPr lang="en-IN" sz="1600" b="0" dirty="0" err="1"/>
              <a:t>Carpaneto</a:t>
            </a:r>
            <a:r>
              <a:rPr lang="en-IN" sz="1600" b="0" dirty="0"/>
              <a:t>, A., </a:t>
            </a:r>
            <a:r>
              <a:rPr lang="en-IN" sz="1600" b="0" dirty="0" err="1"/>
              <a:t>Roccotiello</a:t>
            </a:r>
            <a:r>
              <a:rPr lang="en-IN" sz="1600" b="0" dirty="0"/>
              <a:t>, E., Groen, D., ... &amp; Brunelli, D. (2025, July). Stand-Alone Green Twin for Plant Microbial Fuel Cell (PMFC) Monitoring and Optimization. In </a:t>
            </a:r>
            <a:r>
              <a:rPr lang="en-IN" sz="1600" b="0" i="1" dirty="0"/>
              <a:t>2025 IEEE International Workshop on Metrology for Industry 4.0 &amp; IoT (MetroInd4. 0 &amp; IoT)</a:t>
            </a:r>
            <a:r>
              <a:rPr lang="en-IN" sz="1600" b="0" dirty="0"/>
              <a:t> (pp. 196-201). IEEE.[</a:t>
            </a:r>
            <a:r>
              <a:rPr lang="en-IN" sz="1600" b="0" dirty="0">
                <a:hlinkClick r:id="rId6"/>
              </a:rPr>
              <a:t>link</a:t>
            </a:r>
            <a:r>
              <a:rPr lang="en-IN" sz="1600" b="0" dirty="0"/>
              <a:t>]</a:t>
            </a:r>
          </a:p>
          <a:p>
            <a:pPr marL="342900" indent="-342900">
              <a:buFont typeface="+mj-lt"/>
              <a:buAutoNum type="arabicPeriod" startAt="9"/>
            </a:pPr>
            <a:r>
              <a:rPr lang="en-IN" sz="1600" b="0" dirty="0"/>
              <a:t>Latif, M., Tiy, P. A., </a:t>
            </a:r>
            <a:r>
              <a:rPr lang="en-IN" sz="1600" b="0" dirty="0" err="1"/>
              <a:t>Muharam</a:t>
            </a:r>
            <a:r>
              <a:rPr lang="en-IN" sz="1600" b="0" dirty="0"/>
              <a:t>, M., &amp; </a:t>
            </a:r>
            <a:r>
              <a:rPr lang="en-IN" sz="1600" b="0" dirty="0" err="1"/>
              <a:t>Luthfi</a:t>
            </a:r>
            <a:r>
              <a:rPr lang="en-IN" sz="1600" b="0" dirty="0"/>
              <a:t>, A. (2023). The Study of Plant Microbial Fuel Cell for Alternative Energy Source. </a:t>
            </a:r>
            <a:r>
              <a:rPr lang="en-IN" sz="1600" b="0" i="1" dirty="0" err="1"/>
              <a:t>Jurnal</a:t>
            </a:r>
            <a:r>
              <a:rPr lang="en-IN" sz="1600" b="0" i="1" dirty="0"/>
              <a:t> Nasional Teknik Elektro</a:t>
            </a:r>
            <a:r>
              <a:rPr lang="en-IN" sz="1600" b="0" dirty="0"/>
              <a:t>.[</a:t>
            </a:r>
            <a:r>
              <a:rPr lang="en-IN" sz="1600" b="0" dirty="0">
                <a:hlinkClick r:id="rId7"/>
              </a:rPr>
              <a:t>link</a:t>
            </a:r>
            <a:r>
              <a:rPr lang="en-IN" sz="1600" b="0" dirty="0"/>
              <a:t>]</a:t>
            </a:r>
          </a:p>
          <a:p>
            <a:pPr marL="342900" indent="-342900">
              <a:buFont typeface="+mj-lt"/>
              <a:buAutoNum type="arabicPeriod" startAt="9"/>
            </a:pPr>
            <a:r>
              <a:rPr lang="en-IN" sz="1600" b="0" dirty="0"/>
              <a:t>Castillo-Atoche, A., Vázquez-Castillo, J., Osorio-De-La-Rosa, E., Heredia-Lozano, J. C., Viñas, J. A., Cetina, R. Q., &amp; Estrada-López, J. J. (2021). An energy-saving data statistics-driven management technique for bio-powered indoor wireless sensor nodes. </a:t>
            </a:r>
            <a:r>
              <a:rPr lang="en-IN" sz="1600" b="0" i="1" dirty="0"/>
              <a:t>IEEE Transactions on Instrumentation and Measurement</a:t>
            </a:r>
            <a:r>
              <a:rPr lang="en-IN" sz="1600" b="0" dirty="0"/>
              <a:t>, </a:t>
            </a:r>
            <a:r>
              <a:rPr lang="en-IN" sz="1600" b="0" i="1" dirty="0"/>
              <a:t>70</a:t>
            </a:r>
            <a:r>
              <a:rPr lang="en-IN" sz="1600" b="0" dirty="0"/>
              <a:t>, 1-10.[</a:t>
            </a:r>
            <a:r>
              <a:rPr lang="en-IN" sz="1600" b="0" dirty="0">
                <a:hlinkClick r:id="rId8"/>
              </a:rPr>
              <a:t>link</a:t>
            </a:r>
            <a:r>
              <a:rPr lang="en-IN" sz="1600" b="0" dirty="0"/>
              <a:t>]</a:t>
            </a:r>
          </a:p>
          <a:p>
            <a:pPr marL="342900" indent="-342900">
              <a:buFont typeface="+mj-lt"/>
              <a:buAutoNum type="arabicPeriod" startAt="9"/>
            </a:pPr>
            <a:r>
              <a:rPr lang="en-IN" sz="1600" b="0" dirty="0"/>
              <a:t>Lu, Z., Yin, D., Chen, P., Wang, H., Yang, Y., Huang, G., ... &amp; Zhang, L. (2020). Power-generating trees: Direct bioelectricity production from plants with microbial fuel cells. </a:t>
            </a:r>
            <a:r>
              <a:rPr lang="en-IN" sz="1600" b="0" i="1" dirty="0"/>
              <a:t>Applied Energy</a:t>
            </a:r>
            <a:r>
              <a:rPr lang="en-IN" sz="1600" b="0" dirty="0"/>
              <a:t>, </a:t>
            </a:r>
            <a:r>
              <a:rPr lang="en-IN" sz="1600" b="0" i="1" dirty="0"/>
              <a:t>268</a:t>
            </a:r>
            <a:r>
              <a:rPr lang="en-IN" sz="1600" b="0" dirty="0"/>
              <a:t>, 115040.[</a:t>
            </a:r>
            <a:r>
              <a:rPr lang="en-IN" sz="1600" b="0" dirty="0">
                <a:hlinkClick r:id="rId9"/>
              </a:rPr>
              <a:t>link</a:t>
            </a:r>
            <a:r>
              <a:rPr lang="en-IN" sz="1600" b="0" dirty="0"/>
              <a:t>]</a:t>
            </a:r>
          </a:p>
        </p:txBody>
      </p:sp>
      <p:sp>
        <p:nvSpPr>
          <p:cNvPr id="4" name="Slide Number Placeholder 3">
            <a:extLst>
              <a:ext uri="{FF2B5EF4-FFF2-40B4-BE49-F238E27FC236}">
                <a16:creationId xmlns:a16="http://schemas.microsoft.com/office/drawing/2014/main" id="{E9CB1D94-E425-2F2D-B7EC-5757597C5DF7}"/>
              </a:ext>
            </a:extLst>
          </p:cNvPr>
          <p:cNvSpPr>
            <a:spLocks noGrp="1"/>
          </p:cNvSpPr>
          <p:nvPr>
            <p:ph type="sldNum" sz="quarter" idx="12"/>
          </p:nvPr>
        </p:nvSpPr>
        <p:spPr/>
        <p:txBody>
          <a:bodyPr/>
          <a:lstStyle/>
          <a:p>
            <a:fld id="{EEC824EF-4F39-42CE-B61A-92299691A099}" type="slidenum">
              <a:rPr lang="en-IN" smtClean="0"/>
              <a:t>18</a:t>
            </a:fld>
            <a:endParaRPr lang="en-IN"/>
          </a:p>
        </p:txBody>
      </p:sp>
      <p:sp>
        <p:nvSpPr>
          <p:cNvPr id="5" name="Footer Placeholder 4">
            <a:extLst>
              <a:ext uri="{FF2B5EF4-FFF2-40B4-BE49-F238E27FC236}">
                <a16:creationId xmlns:a16="http://schemas.microsoft.com/office/drawing/2014/main" id="{31890ADC-15F0-96D5-1800-ABB28220107D}"/>
              </a:ext>
            </a:extLst>
          </p:cNvPr>
          <p:cNvSpPr>
            <a:spLocks noGrp="1"/>
          </p:cNvSpPr>
          <p:nvPr>
            <p:ph type="ftr" sz="quarter" idx="3"/>
          </p:nvPr>
        </p:nvSpPr>
        <p:spPr/>
        <p:txBody>
          <a:bodyPr/>
          <a:lstStyle/>
          <a:p>
            <a:r>
              <a:rPr lang="en-IN"/>
              <a:t>Department of Electronics &amp; Instrumentation Engineering, VNRVJIET</a:t>
            </a:r>
            <a:endParaRPr lang="en-IN" dirty="0"/>
          </a:p>
        </p:txBody>
      </p:sp>
    </p:spTree>
    <p:extLst>
      <p:ext uri="{BB962C8B-B14F-4D97-AF65-F5344CB8AC3E}">
        <p14:creationId xmlns:p14="http://schemas.microsoft.com/office/powerpoint/2010/main" val="29833019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IN"/>
              <a:t>Department of Electronics &amp; Instrumentation Engineering, VNRVJIET</a:t>
            </a:r>
            <a:endParaRPr lang="en-IN" dirty="0"/>
          </a:p>
        </p:txBody>
      </p:sp>
      <p:sp>
        <p:nvSpPr>
          <p:cNvPr id="4" name="Slide Number Placeholder 3"/>
          <p:cNvSpPr>
            <a:spLocks noGrp="1"/>
          </p:cNvSpPr>
          <p:nvPr>
            <p:ph type="sldNum" sz="quarter" idx="12"/>
          </p:nvPr>
        </p:nvSpPr>
        <p:spPr/>
        <p:txBody>
          <a:bodyPr/>
          <a:lstStyle/>
          <a:p>
            <a:fld id="{EEC824EF-4F39-42CE-B61A-92299691A099}" type="slidenum">
              <a:rPr lang="en-IN" smtClean="0"/>
              <a:t>19</a:t>
            </a:fld>
            <a:endParaRPr lang="en-IN"/>
          </a:p>
        </p:txBody>
      </p:sp>
    </p:spTree>
    <p:extLst>
      <p:ext uri="{BB962C8B-B14F-4D97-AF65-F5344CB8AC3E}">
        <p14:creationId xmlns:p14="http://schemas.microsoft.com/office/powerpoint/2010/main" val="1067314667"/>
      </p:ext>
    </p:extLst>
  </p:cSld>
  <p:clrMapOvr>
    <a:masterClrMapping/>
  </p:clrMapOvr>
</p:sld>
</file>

<file path=ppt/theme/theme1.xml><?xml version="1.0" encoding="utf-8"?>
<a:theme xmlns:a="http://schemas.openxmlformats.org/drawingml/2006/main" name="ProjectReviews-Dept">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jectReviews-Dept" id="{968517F1-4DA3-4DA1-8DDC-D54FF792DBE9}" vid="{A30CB9FA-8916-48DA-99B7-642FD963B1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ProjectReviews-Dept</Template>
  <TotalTime>2952</TotalTime>
  <Words>2743</Words>
  <Application>Microsoft Office PowerPoint</Application>
  <PresentationFormat>Widescreen</PresentationFormat>
  <Paragraphs>197</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Centaur</vt:lpstr>
      <vt:lpstr>Maiandra GD</vt:lpstr>
      <vt:lpstr>Perpetua</vt:lpstr>
      <vt:lpstr>Times New Roman</vt:lpstr>
      <vt:lpstr>ProjectReviews-Dept</vt:lpstr>
      <vt:lpstr>Renewable Energy Powered IoT System for Plant Water Stress Monitoring</vt:lpstr>
      <vt:lpstr>Circuit Diagram </vt:lpstr>
      <vt:lpstr>Presentation Outline</vt:lpstr>
      <vt:lpstr>Introduction</vt:lpstr>
      <vt:lpstr>Literature Survey</vt:lpstr>
      <vt:lpstr>Literature Survey</vt:lpstr>
      <vt:lpstr>Problem Identification</vt:lpstr>
      <vt:lpstr>Methodology</vt:lpstr>
      <vt:lpstr>Block Diagram</vt:lpstr>
      <vt:lpstr>Flow Chart</vt:lpstr>
      <vt:lpstr>Development and Implementation</vt:lpstr>
      <vt:lpstr>Development and Implementation</vt:lpstr>
      <vt:lpstr>Results and Discussion</vt:lpstr>
      <vt:lpstr>Results and Discussion</vt:lpstr>
      <vt:lpstr>Conclusion and Future Scope</vt:lpstr>
      <vt:lpstr>Conclusion and Future Scope</vt:lpstr>
      <vt:lpstr>References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Dr. Chakravarthula Kiran</dc:creator>
  <cp:lastModifiedBy>Bandari Shasheendra</cp:lastModifiedBy>
  <cp:revision>25</cp:revision>
  <dcterms:created xsi:type="dcterms:W3CDTF">2017-05-02T09:27:29Z</dcterms:created>
  <dcterms:modified xsi:type="dcterms:W3CDTF">2026-05-02T05:59:12Z</dcterms:modified>
</cp:coreProperties>
</file>